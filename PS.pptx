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DM Sans Bold" charset="1" panose="00000000000000000000"/>
      <p:regular r:id="rId32"/>
    </p:embeddedFont>
    <p:embeddedFont>
      <p:font typeface="Montserrat Heavy" charset="1" panose="00000A00000000000000"/>
      <p:regular r:id="rId33"/>
    </p:embeddedFont>
    <p:embeddedFont>
      <p:font typeface="DM Sans" charset="1" panose="00000000000000000000"/>
      <p:regular r:id="rId34"/>
    </p:embeddedFont>
    <p:embeddedFont>
      <p:font typeface="Montserrat Bold" charset="1" panose="00000800000000000000"/>
      <p:regular r:id="rId35"/>
    </p:embeddedFont>
    <p:embeddedFont>
      <p:font typeface="Public Sans" charset="1" panose="00000000000000000000"/>
      <p:regular r:id="rId36"/>
    </p:embeddedFont>
    <p:embeddedFont>
      <p:font typeface="Oswald Bold" charset="1" panose="00000800000000000000"/>
      <p:regular r:id="rId37"/>
    </p:embeddedFont>
    <p:embeddedFont>
      <p:font typeface="Public Sans Bold" charset="1" panose="00000000000000000000"/>
      <p:regular r:id="rId38"/>
    </p:embeddedFont>
    <p:embeddedFont>
      <p:font typeface="Montserrat" charset="1" panose="000005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 Id="rId7"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 Id="rId9" Target="../media/image3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grpSp>
        <p:nvGrpSpPr>
          <p:cNvPr name="Group 2" id="2"/>
          <p:cNvGrpSpPr/>
          <p:nvPr/>
        </p:nvGrpSpPr>
        <p:grpSpPr>
          <a:xfrm rot="0">
            <a:off x="-3464376" y="8139697"/>
            <a:ext cx="22035035" cy="4684351"/>
            <a:chOff x="0" y="0"/>
            <a:chExt cx="5803466" cy="1233739"/>
          </a:xfrm>
        </p:grpSpPr>
        <p:sp>
          <p:nvSpPr>
            <p:cNvPr name="Freeform 3" id="3"/>
            <p:cNvSpPr/>
            <p:nvPr/>
          </p:nvSpPr>
          <p:spPr>
            <a:xfrm flipH="false" flipV="false" rot="0">
              <a:off x="0" y="0"/>
              <a:ext cx="5803466" cy="1233739"/>
            </a:xfrm>
            <a:custGeom>
              <a:avLst/>
              <a:gdLst/>
              <a:ahLst/>
              <a:cxnLst/>
              <a:rect r="r" b="b" t="t" l="l"/>
              <a:pathLst>
                <a:path h="1233739" w="5803466">
                  <a:moveTo>
                    <a:pt x="0" y="0"/>
                  </a:moveTo>
                  <a:lnTo>
                    <a:pt x="5803466" y="0"/>
                  </a:lnTo>
                  <a:lnTo>
                    <a:pt x="5803466" y="1233739"/>
                  </a:lnTo>
                  <a:lnTo>
                    <a:pt x="0" y="1233739"/>
                  </a:lnTo>
                  <a:close/>
                </a:path>
              </a:pathLst>
            </a:custGeom>
            <a:solidFill>
              <a:srgbClr val="952A2A"/>
            </a:solidFill>
          </p:spPr>
        </p:sp>
        <p:sp>
          <p:nvSpPr>
            <p:cNvPr name="TextBox 4" id="4"/>
            <p:cNvSpPr txBox="true"/>
            <p:nvPr/>
          </p:nvSpPr>
          <p:spPr>
            <a:xfrm>
              <a:off x="0" y="-47625"/>
              <a:ext cx="5803466" cy="1281364"/>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6511913" y="1060041"/>
            <a:ext cx="1052409" cy="263102"/>
          </a:xfrm>
          <a:custGeom>
            <a:avLst/>
            <a:gdLst/>
            <a:ahLst/>
            <a:cxnLst/>
            <a:rect r="r" b="b" t="t" l="l"/>
            <a:pathLst>
              <a:path h="263102" w="1052409">
                <a:moveTo>
                  <a:pt x="0" y="0"/>
                </a:moveTo>
                <a:lnTo>
                  <a:pt x="1052409" y="0"/>
                </a:lnTo>
                <a:lnTo>
                  <a:pt x="1052409" y="263102"/>
                </a:lnTo>
                <a:lnTo>
                  <a:pt x="0" y="263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407392" y="3031599"/>
            <a:ext cx="8880608" cy="4223802"/>
          </a:xfrm>
          <a:custGeom>
            <a:avLst/>
            <a:gdLst/>
            <a:ahLst/>
            <a:cxnLst/>
            <a:rect r="r" b="b" t="t" l="l"/>
            <a:pathLst>
              <a:path h="4223802" w="8880608">
                <a:moveTo>
                  <a:pt x="0" y="0"/>
                </a:moveTo>
                <a:lnTo>
                  <a:pt x="8880608" y="0"/>
                </a:lnTo>
                <a:lnTo>
                  <a:pt x="8880608" y="4223802"/>
                </a:lnTo>
                <a:lnTo>
                  <a:pt x="0" y="4223802"/>
                </a:lnTo>
                <a:lnTo>
                  <a:pt x="0" y="0"/>
                </a:lnTo>
                <a:close/>
              </a:path>
            </a:pathLst>
          </a:custGeom>
          <a:blipFill>
            <a:blip r:embed="rId4"/>
            <a:stretch>
              <a:fillRect l="0" t="-8223" r="0" b="-8223"/>
            </a:stretch>
          </a:blipFill>
        </p:spPr>
      </p:sp>
      <p:sp>
        <p:nvSpPr>
          <p:cNvPr name="AutoShape 7" id="7"/>
          <p:cNvSpPr/>
          <p:nvPr/>
        </p:nvSpPr>
        <p:spPr>
          <a:xfrm>
            <a:off x="12840861" y="1936985"/>
            <a:ext cx="10894278" cy="0"/>
          </a:xfrm>
          <a:prstGeom prst="line">
            <a:avLst/>
          </a:prstGeom>
          <a:ln cap="flat" w="57150">
            <a:solidFill>
              <a:srgbClr val="181818"/>
            </a:solidFill>
            <a:prstDash val="solid"/>
            <a:headEnd type="none" len="sm" w="sm"/>
            <a:tailEnd type="none" len="sm" w="sm"/>
          </a:ln>
        </p:spPr>
      </p:sp>
      <p:sp>
        <p:nvSpPr>
          <p:cNvPr name="Freeform 8" id="8"/>
          <p:cNvSpPr/>
          <p:nvPr/>
        </p:nvSpPr>
        <p:spPr>
          <a:xfrm flipH="false" flipV="false" rot="0">
            <a:off x="759951" y="516753"/>
            <a:ext cx="6237805" cy="1809996"/>
          </a:xfrm>
          <a:custGeom>
            <a:avLst/>
            <a:gdLst/>
            <a:ahLst/>
            <a:cxnLst/>
            <a:rect r="r" b="b" t="t" l="l"/>
            <a:pathLst>
              <a:path h="1809996" w="6237805">
                <a:moveTo>
                  <a:pt x="0" y="0"/>
                </a:moveTo>
                <a:lnTo>
                  <a:pt x="6237804" y="0"/>
                </a:lnTo>
                <a:lnTo>
                  <a:pt x="6237804" y="1809996"/>
                </a:lnTo>
                <a:lnTo>
                  <a:pt x="0" y="1809996"/>
                </a:lnTo>
                <a:lnTo>
                  <a:pt x="0" y="0"/>
                </a:lnTo>
                <a:close/>
              </a:path>
            </a:pathLst>
          </a:custGeom>
          <a:blipFill>
            <a:blip r:embed="rId5"/>
            <a:stretch>
              <a:fillRect l="0" t="0" r="0" b="0"/>
            </a:stretch>
          </a:blipFill>
        </p:spPr>
      </p:sp>
      <p:sp>
        <p:nvSpPr>
          <p:cNvPr name="TextBox 9" id="9"/>
          <p:cNvSpPr txBox="true"/>
          <p:nvPr/>
        </p:nvSpPr>
        <p:spPr>
          <a:xfrm rot="0">
            <a:off x="11116660" y="8247196"/>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ENCADRANT:</a:t>
            </a:r>
          </a:p>
        </p:txBody>
      </p:sp>
      <p:sp>
        <p:nvSpPr>
          <p:cNvPr name="TextBox 10" id="10"/>
          <p:cNvSpPr txBox="true"/>
          <p:nvPr/>
        </p:nvSpPr>
        <p:spPr>
          <a:xfrm rot="0">
            <a:off x="400655" y="3136374"/>
            <a:ext cx="9901080" cy="3354467"/>
          </a:xfrm>
          <a:prstGeom prst="rect">
            <a:avLst/>
          </a:prstGeom>
        </p:spPr>
        <p:txBody>
          <a:bodyPr anchor="t" rtlCol="false" tIns="0" lIns="0" bIns="0" rIns="0">
            <a:spAutoFit/>
          </a:bodyPr>
          <a:lstStyle/>
          <a:p>
            <a:pPr algn="l">
              <a:lnSpc>
                <a:spcPts val="5252"/>
              </a:lnSpc>
            </a:pPr>
            <a:r>
              <a:rPr lang="en-US" sz="5200" b="true">
                <a:solidFill>
                  <a:srgbClr val="952A2A"/>
                </a:solidFill>
                <a:latin typeface="Montserrat Heavy"/>
                <a:ea typeface="Montserrat Heavy"/>
                <a:cs typeface="Montserrat Heavy"/>
                <a:sym typeface="Montserrat Heavy"/>
              </a:rPr>
              <a:t>CONCEPTION ET RÉALISATION D’UN SYSTÈME DE GESTION D’UNE BANQUE DE SANG :    LIFEFLOW</a:t>
            </a:r>
          </a:p>
        </p:txBody>
      </p:sp>
      <p:sp>
        <p:nvSpPr>
          <p:cNvPr name="TextBox 11" id="11"/>
          <p:cNvSpPr txBox="true"/>
          <p:nvPr/>
        </p:nvSpPr>
        <p:spPr>
          <a:xfrm rot="0">
            <a:off x="400655" y="6605254"/>
            <a:ext cx="8203811" cy="455295"/>
          </a:xfrm>
          <a:prstGeom prst="rect">
            <a:avLst/>
          </a:prstGeom>
        </p:spPr>
        <p:txBody>
          <a:bodyPr anchor="t" rtlCol="false" tIns="0" lIns="0" bIns="0" rIns="0">
            <a:spAutoFit/>
          </a:bodyPr>
          <a:lstStyle/>
          <a:p>
            <a:pPr algn="l">
              <a:lnSpc>
                <a:spcPts val="3779"/>
              </a:lnSpc>
            </a:pPr>
            <a:r>
              <a:rPr lang="en-US" sz="2700">
                <a:solidFill>
                  <a:srgbClr val="0C1D4B"/>
                </a:solidFill>
                <a:latin typeface="DM Sans"/>
                <a:ea typeface="DM Sans"/>
                <a:cs typeface="DM Sans"/>
                <a:sym typeface="DM Sans"/>
              </a:rPr>
              <a:t>Soutenance du projet de fin d’étude</a:t>
            </a:r>
          </a:p>
        </p:txBody>
      </p:sp>
      <p:sp>
        <p:nvSpPr>
          <p:cNvPr name="TextBox 12" id="12"/>
          <p:cNvSpPr txBox="true"/>
          <p:nvPr/>
        </p:nvSpPr>
        <p:spPr>
          <a:xfrm rot="0">
            <a:off x="197861" y="8247196"/>
            <a:ext cx="4657829" cy="389255"/>
          </a:xfrm>
          <a:prstGeom prst="rect">
            <a:avLst/>
          </a:prstGeom>
        </p:spPr>
        <p:txBody>
          <a:bodyPr anchor="t" rtlCol="false" tIns="0" lIns="0" bIns="0" rIns="0">
            <a:spAutoFit/>
          </a:bodyPr>
          <a:lstStyle/>
          <a:p>
            <a:pPr algn="just">
              <a:lnSpc>
                <a:spcPts val="3219"/>
              </a:lnSpc>
            </a:pPr>
            <a:r>
              <a:rPr lang="en-US" b="true" sz="2299" spc="55">
                <a:solidFill>
                  <a:srgbClr val="FFFFFF"/>
                </a:solidFill>
                <a:latin typeface="DM Sans Bold"/>
                <a:ea typeface="DM Sans Bold"/>
                <a:cs typeface="DM Sans Bold"/>
                <a:sym typeface="DM Sans Bold"/>
              </a:rPr>
              <a:t>RÉALISÉE PAR :</a:t>
            </a:r>
          </a:p>
        </p:txBody>
      </p:sp>
      <p:sp>
        <p:nvSpPr>
          <p:cNvPr name="TextBox 13" id="13"/>
          <p:cNvSpPr txBox="true"/>
          <p:nvPr/>
        </p:nvSpPr>
        <p:spPr>
          <a:xfrm rot="0">
            <a:off x="759951" y="8892992"/>
            <a:ext cx="4657829" cy="1189355"/>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55">
                <a:solidFill>
                  <a:srgbClr val="FFFFFF"/>
                </a:solidFill>
                <a:latin typeface="DM Sans Bold"/>
                <a:ea typeface="DM Sans Bold"/>
                <a:cs typeface="DM Sans Bold"/>
                <a:sym typeface="DM Sans Bold"/>
              </a:rPr>
              <a:t>WALID HAMROUD</a:t>
            </a:r>
          </a:p>
          <a:p>
            <a:pPr algn="l" marL="496569" indent="-248284" lvl="1">
              <a:lnSpc>
                <a:spcPts val="3219"/>
              </a:lnSpc>
              <a:buFont typeface="Arial"/>
              <a:buChar char="•"/>
            </a:pPr>
            <a:r>
              <a:rPr lang="en-US" b="true" sz="2299" spc="55">
                <a:solidFill>
                  <a:srgbClr val="FFFFFF"/>
                </a:solidFill>
                <a:latin typeface="DM Sans Bold"/>
                <a:ea typeface="DM Sans Bold"/>
                <a:cs typeface="DM Sans Bold"/>
                <a:sym typeface="DM Sans Bold"/>
              </a:rPr>
              <a:t>IBTIHAL LETRACH</a:t>
            </a:r>
          </a:p>
          <a:p>
            <a:pPr algn="l" marL="496569" indent="-248284" lvl="1">
              <a:lnSpc>
                <a:spcPts val="3219"/>
              </a:lnSpc>
              <a:buFont typeface="Arial"/>
              <a:buChar char="•"/>
            </a:pPr>
            <a:r>
              <a:rPr lang="en-US" b="true" sz="2299" spc="55">
                <a:solidFill>
                  <a:srgbClr val="FFFFFF"/>
                </a:solidFill>
                <a:latin typeface="DM Sans Bold"/>
                <a:ea typeface="DM Sans Bold"/>
                <a:cs typeface="DM Sans Bold"/>
                <a:sym typeface="DM Sans Bold"/>
              </a:rPr>
              <a:t>ZAKARYAE MILOUDY</a:t>
            </a:r>
          </a:p>
        </p:txBody>
      </p:sp>
      <p:sp>
        <p:nvSpPr>
          <p:cNvPr name="TextBox 14" id="14"/>
          <p:cNvSpPr txBox="true"/>
          <p:nvPr/>
        </p:nvSpPr>
        <p:spPr>
          <a:xfrm rot="0">
            <a:off x="5748977" y="8892468"/>
            <a:ext cx="3063826" cy="1189355"/>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55">
                <a:solidFill>
                  <a:srgbClr val="FFFFFF"/>
                </a:solidFill>
                <a:latin typeface="DM Sans Bold"/>
                <a:ea typeface="DM Sans Bold"/>
                <a:cs typeface="DM Sans Bold"/>
                <a:sym typeface="DM Sans Bold"/>
              </a:rPr>
              <a:t>L</a:t>
            </a:r>
            <a:r>
              <a:rPr lang="en-US" b="true" sz="2299" spc="55">
                <a:solidFill>
                  <a:srgbClr val="FFFFFF"/>
                </a:solidFill>
                <a:latin typeface="DM Sans Bold"/>
                <a:ea typeface="DM Sans Bold"/>
                <a:cs typeface="DM Sans Bold"/>
                <a:sym typeface="DM Sans Bold"/>
              </a:rPr>
              <a:t>AMLILI YASSER</a:t>
            </a:r>
          </a:p>
          <a:p>
            <a:pPr algn="l" marL="496569" indent="-248284" lvl="1">
              <a:lnSpc>
                <a:spcPts val="3219"/>
              </a:lnSpc>
              <a:buFont typeface="Arial"/>
              <a:buChar char="•"/>
            </a:pPr>
            <a:r>
              <a:rPr lang="en-US" b="true" sz="2299" spc="55">
                <a:solidFill>
                  <a:srgbClr val="FFFFFF"/>
                </a:solidFill>
                <a:latin typeface="DM Sans Bold"/>
                <a:ea typeface="DM Sans Bold"/>
                <a:cs typeface="DM Sans Bold"/>
                <a:sym typeface="DM Sans Bold"/>
              </a:rPr>
              <a:t>ESBAI REDOUANE</a:t>
            </a:r>
          </a:p>
          <a:p>
            <a:pPr algn="just">
              <a:lnSpc>
                <a:spcPts val="3219"/>
              </a:lnSpc>
            </a:pPr>
          </a:p>
        </p:txBody>
      </p:sp>
      <p:sp>
        <p:nvSpPr>
          <p:cNvPr name="TextBox 15" id="15"/>
          <p:cNvSpPr txBox="true"/>
          <p:nvPr/>
        </p:nvSpPr>
        <p:spPr>
          <a:xfrm rot="0">
            <a:off x="5484876" y="8247196"/>
            <a:ext cx="4657829" cy="389255"/>
          </a:xfrm>
          <a:prstGeom prst="rect">
            <a:avLst/>
          </a:prstGeom>
        </p:spPr>
        <p:txBody>
          <a:bodyPr anchor="t" rtlCol="false" tIns="0" lIns="0" bIns="0" rIns="0">
            <a:spAutoFit/>
          </a:bodyPr>
          <a:lstStyle/>
          <a:p>
            <a:pPr algn="just">
              <a:lnSpc>
                <a:spcPts val="3219"/>
              </a:lnSpc>
            </a:pPr>
            <a:r>
              <a:rPr lang="en-US" b="true" sz="2299" spc="55">
                <a:solidFill>
                  <a:srgbClr val="FFFFFF"/>
                </a:solidFill>
                <a:latin typeface="DM Sans Bold"/>
                <a:ea typeface="DM Sans Bold"/>
                <a:cs typeface="DM Sans Bold"/>
                <a:sym typeface="DM Sans Bold"/>
              </a:rPr>
              <a:t>MEMBRES DU JURY:</a:t>
            </a:r>
          </a:p>
        </p:txBody>
      </p:sp>
      <p:sp>
        <p:nvSpPr>
          <p:cNvPr name="TextBox 16" id="16"/>
          <p:cNvSpPr txBox="true"/>
          <p:nvPr/>
        </p:nvSpPr>
        <p:spPr>
          <a:xfrm rot="0">
            <a:off x="9144000" y="8892468"/>
            <a:ext cx="3640258" cy="1589405"/>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55">
                <a:solidFill>
                  <a:srgbClr val="FFFFFF"/>
                </a:solidFill>
                <a:latin typeface="DM Sans Bold"/>
                <a:ea typeface="DM Sans Bold"/>
                <a:cs typeface="DM Sans Bold"/>
                <a:sym typeface="DM Sans Bold"/>
              </a:rPr>
              <a:t>E</a:t>
            </a:r>
            <a:r>
              <a:rPr lang="en-US" b="true" sz="2299" spc="55">
                <a:solidFill>
                  <a:srgbClr val="FFFFFF"/>
                </a:solidFill>
                <a:latin typeface="DM Sans Bold"/>
                <a:ea typeface="DM Sans Bold"/>
                <a:cs typeface="DM Sans Bold"/>
                <a:sym typeface="DM Sans Bold"/>
              </a:rPr>
              <a:t>L OTMANI FOUAD</a:t>
            </a:r>
          </a:p>
          <a:p>
            <a:pPr algn="l" marL="496569" indent="-248284" lvl="1">
              <a:lnSpc>
                <a:spcPts val="3219"/>
              </a:lnSpc>
              <a:buFont typeface="Arial"/>
              <a:buChar char="•"/>
            </a:pPr>
            <a:r>
              <a:rPr lang="en-US" b="true" sz="2299" spc="55">
                <a:solidFill>
                  <a:srgbClr val="FFFFFF"/>
                </a:solidFill>
                <a:latin typeface="DM Sans Bold"/>
                <a:ea typeface="DM Sans Bold"/>
                <a:cs typeface="DM Sans Bold"/>
                <a:sym typeface="DM Sans Bold"/>
              </a:rPr>
              <a:t>HAKKOU SOUFIANE</a:t>
            </a:r>
          </a:p>
          <a:p>
            <a:pPr algn="just">
              <a:lnSpc>
                <a:spcPts val="3219"/>
              </a:lnSpc>
            </a:pPr>
          </a:p>
          <a:p>
            <a:pPr algn="just">
              <a:lnSpc>
                <a:spcPts val="3219"/>
              </a:lnSpc>
            </a:pPr>
          </a:p>
        </p:txBody>
      </p:sp>
      <p:sp>
        <p:nvSpPr>
          <p:cNvPr name="TextBox 17" id="17"/>
          <p:cNvSpPr txBox="true"/>
          <p:nvPr/>
        </p:nvSpPr>
        <p:spPr>
          <a:xfrm rot="0">
            <a:off x="14647742" y="8892992"/>
            <a:ext cx="3640258" cy="1189355"/>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55">
                <a:solidFill>
                  <a:srgbClr val="FFFFFF"/>
                </a:solidFill>
                <a:latin typeface="DM Sans Bold"/>
                <a:ea typeface="DM Sans Bold"/>
                <a:cs typeface="DM Sans Bold"/>
                <a:sym typeface="DM Sans Bold"/>
              </a:rPr>
              <a:t>LAMLILI YASSER</a:t>
            </a:r>
          </a:p>
          <a:p>
            <a:pPr algn="just">
              <a:lnSpc>
                <a:spcPts val="3219"/>
              </a:lnSpc>
            </a:pPr>
          </a:p>
          <a:p>
            <a:pPr algn="just">
              <a:lnSpc>
                <a:spcPts val="3219"/>
              </a:lnSpc>
            </a:pPr>
          </a:p>
        </p:txBody>
      </p:sp>
      <p:sp>
        <p:nvSpPr>
          <p:cNvPr name="TextBox 18" id="18"/>
          <p:cNvSpPr txBox="true"/>
          <p:nvPr/>
        </p:nvSpPr>
        <p:spPr>
          <a:xfrm rot="0">
            <a:off x="1938894" y="7207776"/>
            <a:ext cx="1720550" cy="382270"/>
          </a:xfrm>
          <a:prstGeom prst="rect">
            <a:avLst/>
          </a:prstGeom>
        </p:spPr>
        <p:txBody>
          <a:bodyPr anchor="t" rtlCol="false" tIns="0" lIns="0" bIns="0" rIns="0">
            <a:spAutoFit/>
          </a:bodyPr>
          <a:lstStyle/>
          <a:p>
            <a:pPr algn="l">
              <a:lnSpc>
                <a:spcPts val="3080"/>
              </a:lnSpc>
            </a:pPr>
            <a:r>
              <a:rPr lang="en-US" sz="2200">
                <a:solidFill>
                  <a:srgbClr val="0C1D4B"/>
                </a:solidFill>
                <a:latin typeface="DM Sans"/>
                <a:ea typeface="DM Sans"/>
                <a:cs typeface="DM Sans"/>
                <a:sym typeface="DM Sans"/>
              </a:rPr>
              <a:t>2025-2026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TextBox 2" id="2"/>
          <p:cNvSpPr txBox="true"/>
          <p:nvPr/>
        </p:nvSpPr>
        <p:spPr>
          <a:xfrm rot="0">
            <a:off x="-822450" y="995260"/>
            <a:ext cx="7627731" cy="871220"/>
          </a:xfrm>
          <a:prstGeom prst="rect">
            <a:avLst/>
          </a:prstGeom>
        </p:spPr>
        <p:txBody>
          <a:bodyPr anchor="t" rtlCol="false" tIns="0" lIns="0" bIns="0" rIns="0">
            <a:spAutoFit/>
          </a:bodyPr>
          <a:lstStyle/>
          <a:p>
            <a:pPr algn="ctr">
              <a:lnSpc>
                <a:spcPts val="6565"/>
              </a:lnSpc>
            </a:pPr>
            <a:r>
              <a:rPr lang="en-US" b="true" sz="6500">
                <a:solidFill>
                  <a:srgbClr val="952A2A"/>
                </a:solidFill>
                <a:latin typeface="Montserrat Heavy"/>
                <a:ea typeface="Montserrat Heavy"/>
                <a:cs typeface="Montserrat Heavy"/>
                <a:sym typeface="Montserrat Heavy"/>
              </a:rPr>
              <a:t>PLAN</a:t>
            </a:r>
          </a:p>
        </p:txBody>
      </p:sp>
      <p:sp>
        <p:nvSpPr>
          <p:cNvPr name="Freeform 3" id="3"/>
          <p:cNvSpPr/>
          <p:nvPr/>
        </p:nvSpPr>
        <p:spPr>
          <a:xfrm flipH="false" flipV="false" rot="0">
            <a:off x="15569234" y="8449152"/>
            <a:ext cx="1052409" cy="263102"/>
          </a:xfrm>
          <a:custGeom>
            <a:avLst/>
            <a:gdLst/>
            <a:ahLst/>
            <a:cxnLst/>
            <a:rect r="r" b="b" t="t" l="l"/>
            <a:pathLst>
              <a:path h="263102" w="1052409">
                <a:moveTo>
                  <a:pt x="0" y="0"/>
                </a:moveTo>
                <a:lnTo>
                  <a:pt x="1052409" y="0"/>
                </a:lnTo>
                <a:lnTo>
                  <a:pt x="1052409" y="263102"/>
                </a:lnTo>
                <a:lnTo>
                  <a:pt x="0" y="2631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127839" y="9258300"/>
            <a:ext cx="22035035" cy="3565748"/>
            <a:chOff x="0" y="0"/>
            <a:chExt cx="5803466" cy="939127"/>
          </a:xfrm>
        </p:grpSpPr>
        <p:sp>
          <p:nvSpPr>
            <p:cNvPr name="Freeform 5" id="5"/>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6" id="6"/>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Freeform 8" id="8"/>
          <p:cNvSpPr/>
          <p:nvPr/>
        </p:nvSpPr>
        <p:spPr>
          <a:xfrm flipH="false" flipV="false" rot="0">
            <a:off x="15569234" y="437918"/>
            <a:ext cx="4932321" cy="1214584"/>
          </a:xfrm>
          <a:custGeom>
            <a:avLst/>
            <a:gdLst/>
            <a:ahLst/>
            <a:cxnLst/>
            <a:rect r="r" b="b" t="t" l="l"/>
            <a:pathLst>
              <a:path h="1214584" w="4932321">
                <a:moveTo>
                  <a:pt x="0" y="0"/>
                </a:moveTo>
                <a:lnTo>
                  <a:pt x="4932322" y="0"/>
                </a:lnTo>
                <a:lnTo>
                  <a:pt x="4932322" y="1214584"/>
                </a:lnTo>
                <a:lnTo>
                  <a:pt x="0" y="12145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1435463" y="2910272"/>
            <a:ext cx="564468" cy="282234"/>
          </a:xfrm>
          <a:custGeom>
            <a:avLst/>
            <a:gdLst/>
            <a:ahLst/>
            <a:cxnLst/>
            <a:rect r="r" b="b" t="t" l="l"/>
            <a:pathLst>
              <a:path h="282234" w="564468">
                <a:moveTo>
                  <a:pt x="0" y="0"/>
                </a:moveTo>
                <a:lnTo>
                  <a:pt x="564468" y="0"/>
                </a:lnTo>
                <a:lnTo>
                  <a:pt x="564468" y="282233"/>
                </a:lnTo>
                <a:lnTo>
                  <a:pt x="0" y="2822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2165037" y="2692955"/>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Introduction</a:t>
            </a:r>
          </a:p>
        </p:txBody>
      </p:sp>
      <p:sp>
        <p:nvSpPr>
          <p:cNvPr name="TextBox 11" id="11"/>
          <p:cNvSpPr txBox="true"/>
          <p:nvPr/>
        </p:nvSpPr>
        <p:spPr>
          <a:xfrm rot="0">
            <a:off x="2165037" y="3956245"/>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Problematique</a:t>
            </a:r>
          </a:p>
        </p:txBody>
      </p:sp>
      <p:sp>
        <p:nvSpPr>
          <p:cNvPr name="Freeform 12" id="12"/>
          <p:cNvSpPr/>
          <p:nvPr/>
        </p:nvSpPr>
        <p:spPr>
          <a:xfrm flipH="false" flipV="false" rot="5400000">
            <a:off x="1435463" y="4173562"/>
            <a:ext cx="564468" cy="282234"/>
          </a:xfrm>
          <a:custGeom>
            <a:avLst/>
            <a:gdLst/>
            <a:ahLst/>
            <a:cxnLst/>
            <a:rect r="r" b="b" t="t" l="l"/>
            <a:pathLst>
              <a:path h="282234" w="564468">
                <a:moveTo>
                  <a:pt x="0" y="0"/>
                </a:moveTo>
                <a:lnTo>
                  <a:pt x="564468" y="0"/>
                </a:lnTo>
                <a:lnTo>
                  <a:pt x="564468" y="282234"/>
                </a:lnTo>
                <a:lnTo>
                  <a:pt x="0" y="282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3" id="13"/>
          <p:cNvSpPr/>
          <p:nvPr/>
        </p:nvSpPr>
        <p:spPr>
          <a:xfrm>
            <a:off x="13445575" y="2125686"/>
            <a:ext cx="10894278" cy="0"/>
          </a:xfrm>
          <a:prstGeom prst="line">
            <a:avLst/>
          </a:prstGeom>
          <a:ln cap="flat" w="57150">
            <a:solidFill>
              <a:srgbClr val="181818"/>
            </a:solidFill>
            <a:prstDash val="solid"/>
            <a:headEnd type="none" len="sm" w="sm"/>
            <a:tailEnd type="none" len="sm" w="sm"/>
          </a:ln>
        </p:spPr>
      </p:sp>
      <p:sp>
        <p:nvSpPr>
          <p:cNvPr name="Freeform 14" id="14"/>
          <p:cNvSpPr/>
          <p:nvPr/>
        </p:nvSpPr>
        <p:spPr>
          <a:xfrm flipH="false" flipV="false" rot="5400000">
            <a:off x="1435463" y="5433355"/>
            <a:ext cx="564468" cy="282234"/>
          </a:xfrm>
          <a:custGeom>
            <a:avLst/>
            <a:gdLst/>
            <a:ahLst/>
            <a:cxnLst/>
            <a:rect r="r" b="b" t="t" l="l"/>
            <a:pathLst>
              <a:path h="282234" w="564468">
                <a:moveTo>
                  <a:pt x="0" y="0"/>
                </a:moveTo>
                <a:lnTo>
                  <a:pt x="564468" y="0"/>
                </a:lnTo>
                <a:lnTo>
                  <a:pt x="564468" y="282234"/>
                </a:lnTo>
                <a:lnTo>
                  <a:pt x="0" y="282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2165037" y="5222077"/>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Etude métier </a:t>
            </a:r>
          </a:p>
        </p:txBody>
      </p:sp>
      <p:sp>
        <p:nvSpPr>
          <p:cNvPr name="Freeform 16" id="16"/>
          <p:cNvSpPr/>
          <p:nvPr/>
        </p:nvSpPr>
        <p:spPr>
          <a:xfrm flipH="false" flipV="false" rot="5400000">
            <a:off x="1435463" y="6693147"/>
            <a:ext cx="564468" cy="282234"/>
          </a:xfrm>
          <a:custGeom>
            <a:avLst/>
            <a:gdLst/>
            <a:ahLst/>
            <a:cxnLst/>
            <a:rect r="r" b="b" t="t" l="l"/>
            <a:pathLst>
              <a:path h="282234" w="564468">
                <a:moveTo>
                  <a:pt x="0" y="0"/>
                </a:moveTo>
                <a:lnTo>
                  <a:pt x="564468" y="0"/>
                </a:lnTo>
                <a:lnTo>
                  <a:pt x="564468" y="282234"/>
                </a:lnTo>
                <a:lnTo>
                  <a:pt x="0" y="282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2165037" y="6487908"/>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Etude technique </a:t>
            </a:r>
          </a:p>
        </p:txBody>
      </p:sp>
      <p:sp>
        <p:nvSpPr>
          <p:cNvPr name="Freeform 18" id="18"/>
          <p:cNvSpPr/>
          <p:nvPr/>
        </p:nvSpPr>
        <p:spPr>
          <a:xfrm flipH="false" flipV="false" rot="5400000">
            <a:off x="10200313" y="3474739"/>
            <a:ext cx="564468" cy="282234"/>
          </a:xfrm>
          <a:custGeom>
            <a:avLst/>
            <a:gdLst/>
            <a:ahLst/>
            <a:cxnLst/>
            <a:rect r="r" b="b" t="t" l="l"/>
            <a:pathLst>
              <a:path h="282234" w="564468">
                <a:moveTo>
                  <a:pt x="0" y="0"/>
                </a:moveTo>
                <a:lnTo>
                  <a:pt x="564468" y="0"/>
                </a:lnTo>
                <a:lnTo>
                  <a:pt x="564468" y="282234"/>
                </a:lnTo>
                <a:lnTo>
                  <a:pt x="0" y="282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0888968" y="3257422"/>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Conception </a:t>
            </a:r>
          </a:p>
        </p:txBody>
      </p:sp>
      <p:sp>
        <p:nvSpPr>
          <p:cNvPr name="Freeform 20" id="20"/>
          <p:cNvSpPr/>
          <p:nvPr/>
        </p:nvSpPr>
        <p:spPr>
          <a:xfrm flipH="false" flipV="false" rot="5400000">
            <a:off x="10200313" y="5083943"/>
            <a:ext cx="564468" cy="282234"/>
          </a:xfrm>
          <a:custGeom>
            <a:avLst/>
            <a:gdLst/>
            <a:ahLst/>
            <a:cxnLst/>
            <a:rect r="r" b="b" t="t" l="l"/>
            <a:pathLst>
              <a:path h="282234" w="564468">
                <a:moveTo>
                  <a:pt x="0" y="0"/>
                </a:moveTo>
                <a:lnTo>
                  <a:pt x="564468" y="0"/>
                </a:lnTo>
                <a:lnTo>
                  <a:pt x="564468" y="282234"/>
                </a:lnTo>
                <a:lnTo>
                  <a:pt x="0" y="282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1" id="21"/>
          <p:cNvSpPr txBox="true"/>
          <p:nvPr/>
        </p:nvSpPr>
        <p:spPr>
          <a:xfrm rot="0">
            <a:off x="10928464" y="4927765"/>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Resultat</a:t>
            </a:r>
          </a:p>
        </p:txBody>
      </p:sp>
      <p:sp>
        <p:nvSpPr>
          <p:cNvPr name="Freeform 22" id="22"/>
          <p:cNvSpPr/>
          <p:nvPr/>
        </p:nvSpPr>
        <p:spPr>
          <a:xfrm flipH="false" flipV="false" rot="5400000">
            <a:off x="10200313" y="6693147"/>
            <a:ext cx="564468" cy="282234"/>
          </a:xfrm>
          <a:custGeom>
            <a:avLst/>
            <a:gdLst/>
            <a:ahLst/>
            <a:cxnLst/>
            <a:rect r="r" b="b" t="t" l="l"/>
            <a:pathLst>
              <a:path h="282234" w="564468">
                <a:moveTo>
                  <a:pt x="0" y="0"/>
                </a:moveTo>
                <a:lnTo>
                  <a:pt x="564468" y="0"/>
                </a:lnTo>
                <a:lnTo>
                  <a:pt x="564468" y="282234"/>
                </a:lnTo>
                <a:lnTo>
                  <a:pt x="0" y="2822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0888968" y="6154533"/>
            <a:ext cx="7399032" cy="131345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CONCLUSION &amp; PERSPECTIFS</a:t>
            </a:r>
          </a:p>
        </p:txBody>
      </p:sp>
      <p:sp>
        <p:nvSpPr>
          <p:cNvPr name="Freeform 24" id="24"/>
          <p:cNvSpPr/>
          <p:nvPr/>
        </p:nvSpPr>
        <p:spPr>
          <a:xfrm flipH="false" flipV="false" rot="0">
            <a:off x="-2767284" y="7841860"/>
            <a:ext cx="4932321" cy="1214584"/>
          </a:xfrm>
          <a:custGeom>
            <a:avLst/>
            <a:gdLst/>
            <a:ahLst/>
            <a:cxnLst/>
            <a:rect r="r" b="b" t="t" l="l"/>
            <a:pathLst>
              <a:path h="1214584" w="4932321">
                <a:moveTo>
                  <a:pt x="0" y="0"/>
                </a:moveTo>
                <a:lnTo>
                  <a:pt x="4932321" y="0"/>
                </a:lnTo>
                <a:lnTo>
                  <a:pt x="4932321" y="1214584"/>
                </a:lnTo>
                <a:lnTo>
                  <a:pt x="0" y="12145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grpSp>
        <p:nvGrpSpPr>
          <p:cNvPr name="Group 2" id="2"/>
          <p:cNvGrpSpPr/>
          <p:nvPr/>
        </p:nvGrpSpPr>
        <p:grpSpPr>
          <a:xfrm rot="0">
            <a:off x="-3127839" y="9258300"/>
            <a:ext cx="22035035" cy="3565748"/>
            <a:chOff x="0" y="0"/>
            <a:chExt cx="5803466" cy="939127"/>
          </a:xfrm>
        </p:grpSpPr>
        <p:sp>
          <p:nvSpPr>
            <p:cNvPr name="Freeform 3" id="3"/>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4" id="4"/>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4719556" y="-7326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219438" y="19069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218579" y="2807070"/>
            <a:ext cx="5380738" cy="5380738"/>
          </a:xfrm>
          <a:custGeom>
            <a:avLst/>
            <a:gdLst/>
            <a:ahLst/>
            <a:cxnLst/>
            <a:rect r="r" b="b" t="t" l="l"/>
            <a:pathLst>
              <a:path h="5380738" w="5380738">
                <a:moveTo>
                  <a:pt x="0" y="0"/>
                </a:moveTo>
                <a:lnTo>
                  <a:pt x="5380737" y="0"/>
                </a:lnTo>
                <a:lnTo>
                  <a:pt x="5380737" y="5380737"/>
                </a:lnTo>
                <a:lnTo>
                  <a:pt x="0" y="5380737"/>
                </a:lnTo>
                <a:lnTo>
                  <a:pt x="0" y="0"/>
                </a:lnTo>
                <a:close/>
              </a:path>
            </a:pathLst>
          </a:custGeom>
          <a:blipFill>
            <a:blip r:embed="rId4"/>
            <a:stretch>
              <a:fillRect l="0" t="0" r="0" b="0"/>
            </a:stretch>
          </a:blipFill>
        </p:spPr>
      </p:sp>
      <p:sp>
        <p:nvSpPr>
          <p:cNvPr name="TextBox 8" id="8"/>
          <p:cNvSpPr txBox="true"/>
          <p:nvPr/>
        </p:nvSpPr>
        <p:spPr>
          <a:xfrm rot="0">
            <a:off x="1028700" y="3343642"/>
            <a:ext cx="10440443" cy="4163697"/>
          </a:xfrm>
          <a:prstGeom prst="rect">
            <a:avLst/>
          </a:prstGeom>
        </p:spPr>
        <p:txBody>
          <a:bodyPr anchor="t" rtlCol="false" tIns="0" lIns="0" bIns="0" rIns="0">
            <a:spAutoFit/>
          </a:bodyPr>
          <a:lstStyle/>
          <a:p>
            <a:pPr algn="just">
              <a:lnSpc>
                <a:spcPts val="5599"/>
              </a:lnSpc>
            </a:pPr>
            <a:r>
              <a:rPr lang="en-US" sz="2799">
                <a:solidFill>
                  <a:srgbClr val="0E1D40"/>
                </a:solidFill>
                <a:latin typeface="Public Sans"/>
                <a:ea typeface="Public Sans"/>
                <a:cs typeface="Public Sans"/>
                <a:sym typeface="Public Sans"/>
              </a:rPr>
              <a:t>LifeFlow est une plateforme numérique (web et mobile) dédiée à la gestion du don de sang.</a:t>
            </a:r>
          </a:p>
          <a:p>
            <a:pPr algn="just">
              <a:lnSpc>
                <a:spcPts val="5599"/>
              </a:lnSpc>
            </a:pPr>
            <a:r>
              <a:rPr lang="en-US" sz="2799">
                <a:solidFill>
                  <a:srgbClr val="0E1D40"/>
                </a:solidFill>
                <a:latin typeface="Public Sans"/>
                <a:ea typeface="Public Sans"/>
                <a:cs typeface="Public Sans"/>
                <a:sym typeface="Public Sans"/>
              </a:rPr>
              <a:t> Elle permet de centraliser et gérer en temps réel les donneurs, les stocks sanguins, les demandes de transfusion et les campagnes, afin d’améliorer la coordination, la rapidité et l’efficacité du système transfusionnel</a:t>
            </a:r>
          </a:p>
        </p:txBody>
      </p:sp>
      <p:sp>
        <p:nvSpPr>
          <p:cNvPr name="TextBox 9" id="9"/>
          <p:cNvSpPr txBox="true"/>
          <p:nvPr/>
        </p:nvSpPr>
        <p:spPr>
          <a:xfrm rot="0">
            <a:off x="12390642" y="9595769"/>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0" id="10"/>
          <p:cNvSpPr txBox="true"/>
          <p:nvPr/>
        </p:nvSpPr>
        <p:spPr>
          <a:xfrm rot="0">
            <a:off x="789465" y="947961"/>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grpSp>
        <p:nvGrpSpPr>
          <p:cNvPr name="Group 2" id="2"/>
          <p:cNvGrpSpPr/>
          <p:nvPr/>
        </p:nvGrpSpPr>
        <p:grpSpPr>
          <a:xfrm rot="0">
            <a:off x="-3127839" y="9258300"/>
            <a:ext cx="22035035" cy="3565748"/>
            <a:chOff x="0" y="0"/>
            <a:chExt cx="5803466" cy="939127"/>
          </a:xfrm>
        </p:grpSpPr>
        <p:sp>
          <p:nvSpPr>
            <p:cNvPr name="Freeform 3" id="3"/>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4" id="4"/>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8966860" y="525854"/>
            <a:ext cx="1909545" cy="1460241"/>
          </a:xfrm>
          <a:custGeom>
            <a:avLst/>
            <a:gdLst/>
            <a:ahLst/>
            <a:cxnLst/>
            <a:rect r="r" b="b" t="t" l="l"/>
            <a:pathLst>
              <a:path h="1460241" w="1909545">
                <a:moveTo>
                  <a:pt x="0" y="0"/>
                </a:moveTo>
                <a:lnTo>
                  <a:pt x="1909546" y="0"/>
                </a:lnTo>
                <a:lnTo>
                  <a:pt x="1909546" y="1460240"/>
                </a:lnTo>
                <a:lnTo>
                  <a:pt x="0" y="1460240"/>
                </a:lnTo>
                <a:lnTo>
                  <a:pt x="0" y="0"/>
                </a:lnTo>
                <a:close/>
              </a:path>
            </a:pathLst>
          </a:custGeom>
          <a:blipFill>
            <a:blip r:embed="rId2"/>
            <a:stretch>
              <a:fillRect l="0" t="0" r="0" b="0"/>
            </a:stretch>
          </a:blipFill>
        </p:spPr>
      </p:sp>
      <p:sp>
        <p:nvSpPr>
          <p:cNvPr name="TextBox 6" id="6"/>
          <p:cNvSpPr txBox="true"/>
          <p:nvPr/>
        </p:nvSpPr>
        <p:spPr>
          <a:xfrm rot="0">
            <a:off x="358923" y="258629"/>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PROBLEMAT</a:t>
            </a:r>
            <a:r>
              <a:rPr lang="en-US" b="true" sz="10110">
                <a:solidFill>
                  <a:srgbClr val="952A2A"/>
                </a:solidFill>
                <a:latin typeface="Oswald Bold"/>
                <a:ea typeface="Oswald Bold"/>
                <a:cs typeface="Oswald Bold"/>
                <a:sym typeface="Oswald Bold"/>
              </a:rPr>
              <a:t>IQUE</a:t>
            </a:r>
          </a:p>
        </p:txBody>
      </p:sp>
      <p:sp>
        <p:nvSpPr>
          <p:cNvPr name="Freeform 7" id="7"/>
          <p:cNvSpPr/>
          <p:nvPr/>
        </p:nvSpPr>
        <p:spPr>
          <a:xfrm flipH="false" flipV="false" rot="0">
            <a:off x="15108483" y="525854"/>
            <a:ext cx="4932321" cy="1214584"/>
          </a:xfrm>
          <a:custGeom>
            <a:avLst/>
            <a:gdLst/>
            <a:ahLst/>
            <a:cxnLst/>
            <a:rect r="r" b="b" t="t" l="l"/>
            <a:pathLst>
              <a:path h="1214584" w="4932321">
                <a:moveTo>
                  <a:pt x="0" y="0"/>
                </a:moveTo>
                <a:lnTo>
                  <a:pt x="4932322" y="0"/>
                </a:lnTo>
                <a:lnTo>
                  <a:pt x="4932322" y="1214584"/>
                </a:lnTo>
                <a:lnTo>
                  <a:pt x="0" y="12145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358923" y="2376136"/>
            <a:ext cx="5750943" cy="3810967"/>
            <a:chOff x="0" y="0"/>
            <a:chExt cx="1393643" cy="923596"/>
          </a:xfrm>
        </p:grpSpPr>
        <p:sp>
          <p:nvSpPr>
            <p:cNvPr name="Freeform 9" id="9"/>
            <p:cNvSpPr/>
            <p:nvPr/>
          </p:nvSpPr>
          <p:spPr>
            <a:xfrm flipH="false" flipV="false" rot="0">
              <a:off x="0" y="0"/>
              <a:ext cx="1393643" cy="923596"/>
            </a:xfrm>
            <a:custGeom>
              <a:avLst/>
              <a:gdLst/>
              <a:ahLst/>
              <a:cxnLst/>
              <a:rect r="r" b="b" t="t" l="l"/>
              <a:pathLst>
                <a:path h="923596" w="1393643">
                  <a:moveTo>
                    <a:pt x="1393643" y="51156"/>
                  </a:moveTo>
                  <a:lnTo>
                    <a:pt x="1393643" y="872440"/>
                  </a:lnTo>
                  <a:cubicBezTo>
                    <a:pt x="1393643" y="900693"/>
                    <a:pt x="1370740" y="923596"/>
                    <a:pt x="1342488" y="923596"/>
                  </a:cubicBezTo>
                  <a:lnTo>
                    <a:pt x="51156" y="923596"/>
                  </a:lnTo>
                  <a:cubicBezTo>
                    <a:pt x="22903" y="923596"/>
                    <a:pt x="0" y="900693"/>
                    <a:pt x="0" y="872440"/>
                  </a:cubicBezTo>
                  <a:lnTo>
                    <a:pt x="0" y="51156"/>
                  </a:lnTo>
                  <a:cubicBezTo>
                    <a:pt x="0" y="22903"/>
                    <a:pt x="22903" y="0"/>
                    <a:pt x="51156" y="0"/>
                  </a:cubicBezTo>
                  <a:lnTo>
                    <a:pt x="1342488" y="0"/>
                  </a:lnTo>
                  <a:cubicBezTo>
                    <a:pt x="1356055" y="0"/>
                    <a:pt x="1369067" y="5390"/>
                    <a:pt x="1378660" y="14983"/>
                  </a:cubicBezTo>
                  <a:cubicBezTo>
                    <a:pt x="1388254" y="24577"/>
                    <a:pt x="1393643" y="37588"/>
                    <a:pt x="1393643" y="51156"/>
                  </a:cubicBezTo>
                  <a:close/>
                </a:path>
              </a:pathLst>
            </a:custGeom>
            <a:solidFill>
              <a:srgbClr val="82191A"/>
            </a:solidFill>
          </p:spPr>
        </p:sp>
        <p:sp>
          <p:nvSpPr>
            <p:cNvPr name="TextBox 10" id="10"/>
            <p:cNvSpPr txBox="true"/>
            <p:nvPr/>
          </p:nvSpPr>
          <p:spPr>
            <a:xfrm>
              <a:off x="0" y="-47625"/>
              <a:ext cx="1393643" cy="971221"/>
            </a:xfrm>
            <a:prstGeom prst="rect">
              <a:avLst/>
            </a:prstGeom>
          </p:spPr>
          <p:txBody>
            <a:bodyPr anchor="ctr" rtlCol="false" tIns="50800" lIns="50800" bIns="50800" rIns="50800"/>
            <a:lstStyle/>
            <a:p>
              <a:pPr algn="ctr">
                <a:lnSpc>
                  <a:spcPts val="3257"/>
                </a:lnSpc>
              </a:pPr>
            </a:p>
          </p:txBody>
        </p:sp>
      </p:grpSp>
      <p:grpSp>
        <p:nvGrpSpPr>
          <p:cNvPr name="Group 11" id="11"/>
          <p:cNvGrpSpPr/>
          <p:nvPr/>
        </p:nvGrpSpPr>
        <p:grpSpPr>
          <a:xfrm rot="0">
            <a:off x="812980" y="2774765"/>
            <a:ext cx="4842829" cy="3013708"/>
            <a:chOff x="0" y="0"/>
            <a:chExt cx="1403461" cy="873448"/>
          </a:xfrm>
        </p:grpSpPr>
        <p:sp>
          <p:nvSpPr>
            <p:cNvPr name="Freeform 12" id="12"/>
            <p:cNvSpPr/>
            <p:nvPr/>
          </p:nvSpPr>
          <p:spPr>
            <a:xfrm flipH="false" flipV="false" rot="0">
              <a:off x="0" y="0"/>
              <a:ext cx="1403461" cy="873448"/>
            </a:xfrm>
            <a:custGeom>
              <a:avLst/>
              <a:gdLst/>
              <a:ahLst/>
              <a:cxnLst/>
              <a:rect r="r" b="b" t="t" l="l"/>
              <a:pathLst>
                <a:path h="873448" w="1403461">
                  <a:moveTo>
                    <a:pt x="1403461" y="60748"/>
                  </a:moveTo>
                  <a:lnTo>
                    <a:pt x="1403461" y="812699"/>
                  </a:lnTo>
                  <a:cubicBezTo>
                    <a:pt x="1403461" y="828811"/>
                    <a:pt x="1397061" y="844262"/>
                    <a:pt x="1385669" y="855655"/>
                  </a:cubicBezTo>
                  <a:cubicBezTo>
                    <a:pt x="1374276" y="867047"/>
                    <a:pt x="1358825" y="873448"/>
                    <a:pt x="1342713" y="873448"/>
                  </a:cubicBezTo>
                  <a:lnTo>
                    <a:pt x="60748" y="873448"/>
                  </a:lnTo>
                  <a:cubicBezTo>
                    <a:pt x="44637" y="873448"/>
                    <a:pt x="29185" y="867047"/>
                    <a:pt x="17793" y="855655"/>
                  </a:cubicBezTo>
                  <a:cubicBezTo>
                    <a:pt x="6400" y="844262"/>
                    <a:pt x="0" y="828811"/>
                    <a:pt x="0" y="812699"/>
                  </a:cubicBezTo>
                  <a:lnTo>
                    <a:pt x="0" y="60748"/>
                  </a:lnTo>
                  <a:cubicBezTo>
                    <a:pt x="0" y="44637"/>
                    <a:pt x="6400" y="29185"/>
                    <a:pt x="17793" y="17793"/>
                  </a:cubicBezTo>
                  <a:cubicBezTo>
                    <a:pt x="29185" y="6400"/>
                    <a:pt x="44637" y="0"/>
                    <a:pt x="60748" y="0"/>
                  </a:cubicBezTo>
                  <a:lnTo>
                    <a:pt x="1342713" y="0"/>
                  </a:lnTo>
                  <a:cubicBezTo>
                    <a:pt x="1376263" y="0"/>
                    <a:pt x="1403461" y="27198"/>
                    <a:pt x="1403461" y="60748"/>
                  </a:cubicBezTo>
                  <a:close/>
                </a:path>
              </a:pathLst>
            </a:custGeom>
            <a:solidFill>
              <a:srgbClr val="F7F1F1"/>
            </a:solidFill>
          </p:spPr>
        </p:sp>
        <p:sp>
          <p:nvSpPr>
            <p:cNvPr name="TextBox 13" id="13"/>
            <p:cNvSpPr txBox="true"/>
            <p:nvPr/>
          </p:nvSpPr>
          <p:spPr>
            <a:xfrm>
              <a:off x="0" y="-47625"/>
              <a:ext cx="1403461" cy="921073"/>
            </a:xfrm>
            <a:prstGeom prst="rect">
              <a:avLst/>
            </a:prstGeom>
          </p:spPr>
          <p:txBody>
            <a:bodyPr anchor="ctr" rtlCol="false" tIns="50800" lIns="50800" bIns="50800" rIns="50800"/>
            <a:lstStyle/>
            <a:p>
              <a:pPr algn="ctr">
                <a:lnSpc>
                  <a:spcPts val="3257"/>
                </a:lnSpc>
              </a:pPr>
            </a:p>
          </p:txBody>
        </p:sp>
      </p:grpSp>
      <p:sp>
        <p:nvSpPr>
          <p:cNvPr name="Freeform 14" id="14"/>
          <p:cNvSpPr/>
          <p:nvPr/>
        </p:nvSpPr>
        <p:spPr>
          <a:xfrm flipH="false" flipV="false" rot="0">
            <a:off x="2447562" y="6395487"/>
            <a:ext cx="1573665" cy="921170"/>
          </a:xfrm>
          <a:custGeom>
            <a:avLst/>
            <a:gdLst/>
            <a:ahLst/>
            <a:cxnLst/>
            <a:rect r="r" b="b" t="t" l="l"/>
            <a:pathLst>
              <a:path h="921170" w="1573665">
                <a:moveTo>
                  <a:pt x="0" y="0"/>
                </a:moveTo>
                <a:lnTo>
                  <a:pt x="1573665" y="0"/>
                </a:lnTo>
                <a:lnTo>
                  <a:pt x="1573665" y="921169"/>
                </a:lnTo>
                <a:lnTo>
                  <a:pt x="0" y="921169"/>
                </a:lnTo>
                <a:lnTo>
                  <a:pt x="0" y="0"/>
                </a:lnTo>
                <a:close/>
              </a:path>
            </a:pathLst>
          </a:custGeom>
          <a:blipFill>
            <a:blip r:embed="rId5"/>
            <a:stretch>
              <a:fillRect l="0" t="0" r="0" b="0"/>
            </a:stretch>
          </a:blipFill>
        </p:spPr>
      </p:sp>
      <p:grpSp>
        <p:nvGrpSpPr>
          <p:cNvPr name="Group 15" id="15"/>
          <p:cNvGrpSpPr/>
          <p:nvPr/>
        </p:nvGrpSpPr>
        <p:grpSpPr>
          <a:xfrm rot="0">
            <a:off x="6268528" y="5143500"/>
            <a:ext cx="5750943" cy="3810967"/>
            <a:chOff x="0" y="0"/>
            <a:chExt cx="1393643" cy="923596"/>
          </a:xfrm>
        </p:grpSpPr>
        <p:sp>
          <p:nvSpPr>
            <p:cNvPr name="Freeform 16" id="16"/>
            <p:cNvSpPr/>
            <p:nvPr/>
          </p:nvSpPr>
          <p:spPr>
            <a:xfrm flipH="false" flipV="false" rot="0">
              <a:off x="0" y="0"/>
              <a:ext cx="1393643" cy="923596"/>
            </a:xfrm>
            <a:custGeom>
              <a:avLst/>
              <a:gdLst/>
              <a:ahLst/>
              <a:cxnLst/>
              <a:rect r="r" b="b" t="t" l="l"/>
              <a:pathLst>
                <a:path h="923596" w="1393643">
                  <a:moveTo>
                    <a:pt x="1393643" y="51156"/>
                  </a:moveTo>
                  <a:lnTo>
                    <a:pt x="1393643" y="872440"/>
                  </a:lnTo>
                  <a:cubicBezTo>
                    <a:pt x="1393643" y="900693"/>
                    <a:pt x="1370740" y="923596"/>
                    <a:pt x="1342488" y="923596"/>
                  </a:cubicBezTo>
                  <a:lnTo>
                    <a:pt x="51156" y="923596"/>
                  </a:lnTo>
                  <a:cubicBezTo>
                    <a:pt x="22903" y="923596"/>
                    <a:pt x="0" y="900693"/>
                    <a:pt x="0" y="872440"/>
                  </a:cubicBezTo>
                  <a:lnTo>
                    <a:pt x="0" y="51156"/>
                  </a:lnTo>
                  <a:cubicBezTo>
                    <a:pt x="0" y="22903"/>
                    <a:pt x="22903" y="0"/>
                    <a:pt x="51156" y="0"/>
                  </a:cubicBezTo>
                  <a:lnTo>
                    <a:pt x="1342488" y="0"/>
                  </a:lnTo>
                  <a:cubicBezTo>
                    <a:pt x="1356055" y="0"/>
                    <a:pt x="1369067" y="5390"/>
                    <a:pt x="1378660" y="14983"/>
                  </a:cubicBezTo>
                  <a:cubicBezTo>
                    <a:pt x="1388254" y="24577"/>
                    <a:pt x="1393643" y="37588"/>
                    <a:pt x="1393643" y="51156"/>
                  </a:cubicBezTo>
                  <a:close/>
                </a:path>
              </a:pathLst>
            </a:custGeom>
            <a:solidFill>
              <a:srgbClr val="82191A"/>
            </a:solidFill>
          </p:spPr>
        </p:sp>
        <p:sp>
          <p:nvSpPr>
            <p:cNvPr name="TextBox 17" id="17"/>
            <p:cNvSpPr txBox="true"/>
            <p:nvPr/>
          </p:nvSpPr>
          <p:spPr>
            <a:xfrm>
              <a:off x="0" y="-47625"/>
              <a:ext cx="1393643" cy="971221"/>
            </a:xfrm>
            <a:prstGeom prst="rect">
              <a:avLst/>
            </a:prstGeom>
          </p:spPr>
          <p:txBody>
            <a:bodyPr anchor="ctr" rtlCol="false" tIns="50800" lIns="50800" bIns="50800" rIns="50800"/>
            <a:lstStyle/>
            <a:p>
              <a:pPr algn="ctr">
                <a:lnSpc>
                  <a:spcPts val="3257"/>
                </a:lnSpc>
              </a:pPr>
            </a:p>
          </p:txBody>
        </p:sp>
      </p:grpSp>
      <p:grpSp>
        <p:nvGrpSpPr>
          <p:cNvPr name="Group 18" id="18"/>
          <p:cNvGrpSpPr/>
          <p:nvPr/>
        </p:nvGrpSpPr>
        <p:grpSpPr>
          <a:xfrm rot="0">
            <a:off x="12181397" y="2376136"/>
            <a:ext cx="5750943" cy="3810967"/>
            <a:chOff x="0" y="0"/>
            <a:chExt cx="1393643" cy="923596"/>
          </a:xfrm>
        </p:grpSpPr>
        <p:sp>
          <p:nvSpPr>
            <p:cNvPr name="Freeform 19" id="19"/>
            <p:cNvSpPr/>
            <p:nvPr/>
          </p:nvSpPr>
          <p:spPr>
            <a:xfrm flipH="false" flipV="false" rot="0">
              <a:off x="0" y="0"/>
              <a:ext cx="1393643" cy="923596"/>
            </a:xfrm>
            <a:custGeom>
              <a:avLst/>
              <a:gdLst/>
              <a:ahLst/>
              <a:cxnLst/>
              <a:rect r="r" b="b" t="t" l="l"/>
              <a:pathLst>
                <a:path h="923596" w="1393643">
                  <a:moveTo>
                    <a:pt x="1393643" y="51156"/>
                  </a:moveTo>
                  <a:lnTo>
                    <a:pt x="1393643" y="872440"/>
                  </a:lnTo>
                  <a:cubicBezTo>
                    <a:pt x="1393643" y="900693"/>
                    <a:pt x="1370740" y="923596"/>
                    <a:pt x="1342488" y="923596"/>
                  </a:cubicBezTo>
                  <a:lnTo>
                    <a:pt x="51156" y="923596"/>
                  </a:lnTo>
                  <a:cubicBezTo>
                    <a:pt x="22903" y="923596"/>
                    <a:pt x="0" y="900693"/>
                    <a:pt x="0" y="872440"/>
                  </a:cubicBezTo>
                  <a:lnTo>
                    <a:pt x="0" y="51156"/>
                  </a:lnTo>
                  <a:cubicBezTo>
                    <a:pt x="0" y="22903"/>
                    <a:pt x="22903" y="0"/>
                    <a:pt x="51156" y="0"/>
                  </a:cubicBezTo>
                  <a:lnTo>
                    <a:pt x="1342488" y="0"/>
                  </a:lnTo>
                  <a:cubicBezTo>
                    <a:pt x="1356055" y="0"/>
                    <a:pt x="1369067" y="5390"/>
                    <a:pt x="1378660" y="14983"/>
                  </a:cubicBezTo>
                  <a:cubicBezTo>
                    <a:pt x="1388254" y="24577"/>
                    <a:pt x="1393643" y="37588"/>
                    <a:pt x="1393643" y="51156"/>
                  </a:cubicBezTo>
                  <a:close/>
                </a:path>
              </a:pathLst>
            </a:custGeom>
            <a:solidFill>
              <a:srgbClr val="82191A"/>
            </a:solidFill>
          </p:spPr>
        </p:sp>
        <p:sp>
          <p:nvSpPr>
            <p:cNvPr name="TextBox 20" id="20"/>
            <p:cNvSpPr txBox="true"/>
            <p:nvPr/>
          </p:nvSpPr>
          <p:spPr>
            <a:xfrm>
              <a:off x="0" y="-47625"/>
              <a:ext cx="1393643" cy="971221"/>
            </a:xfrm>
            <a:prstGeom prst="rect">
              <a:avLst/>
            </a:prstGeom>
          </p:spPr>
          <p:txBody>
            <a:bodyPr anchor="ctr" rtlCol="false" tIns="50800" lIns="50800" bIns="50800" rIns="50800"/>
            <a:lstStyle/>
            <a:p>
              <a:pPr algn="ctr">
                <a:lnSpc>
                  <a:spcPts val="3257"/>
                </a:lnSpc>
              </a:pPr>
            </a:p>
          </p:txBody>
        </p:sp>
      </p:grpSp>
      <p:grpSp>
        <p:nvGrpSpPr>
          <p:cNvPr name="Group 21" id="21"/>
          <p:cNvGrpSpPr/>
          <p:nvPr/>
        </p:nvGrpSpPr>
        <p:grpSpPr>
          <a:xfrm rot="0">
            <a:off x="6722586" y="5542129"/>
            <a:ext cx="4842829" cy="3013708"/>
            <a:chOff x="0" y="0"/>
            <a:chExt cx="1403461" cy="873448"/>
          </a:xfrm>
        </p:grpSpPr>
        <p:sp>
          <p:nvSpPr>
            <p:cNvPr name="Freeform 22" id="22"/>
            <p:cNvSpPr/>
            <p:nvPr/>
          </p:nvSpPr>
          <p:spPr>
            <a:xfrm flipH="false" flipV="false" rot="0">
              <a:off x="0" y="0"/>
              <a:ext cx="1403461" cy="873448"/>
            </a:xfrm>
            <a:custGeom>
              <a:avLst/>
              <a:gdLst/>
              <a:ahLst/>
              <a:cxnLst/>
              <a:rect r="r" b="b" t="t" l="l"/>
              <a:pathLst>
                <a:path h="873448" w="1403461">
                  <a:moveTo>
                    <a:pt x="1403461" y="60748"/>
                  </a:moveTo>
                  <a:lnTo>
                    <a:pt x="1403461" y="812699"/>
                  </a:lnTo>
                  <a:cubicBezTo>
                    <a:pt x="1403461" y="828811"/>
                    <a:pt x="1397061" y="844262"/>
                    <a:pt x="1385669" y="855655"/>
                  </a:cubicBezTo>
                  <a:cubicBezTo>
                    <a:pt x="1374276" y="867047"/>
                    <a:pt x="1358825" y="873448"/>
                    <a:pt x="1342713" y="873448"/>
                  </a:cubicBezTo>
                  <a:lnTo>
                    <a:pt x="60748" y="873448"/>
                  </a:lnTo>
                  <a:cubicBezTo>
                    <a:pt x="44637" y="873448"/>
                    <a:pt x="29185" y="867047"/>
                    <a:pt x="17793" y="855655"/>
                  </a:cubicBezTo>
                  <a:cubicBezTo>
                    <a:pt x="6400" y="844262"/>
                    <a:pt x="0" y="828811"/>
                    <a:pt x="0" y="812699"/>
                  </a:cubicBezTo>
                  <a:lnTo>
                    <a:pt x="0" y="60748"/>
                  </a:lnTo>
                  <a:cubicBezTo>
                    <a:pt x="0" y="44637"/>
                    <a:pt x="6400" y="29185"/>
                    <a:pt x="17793" y="17793"/>
                  </a:cubicBezTo>
                  <a:cubicBezTo>
                    <a:pt x="29185" y="6400"/>
                    <a:pt x="44637" y="0"/>
                    <a:pt x="60748" y="0"/>
                  </a:cubicBezTo>
                  <a:lnTo>
                    <a:pt x="1342713" y="0"/>
                  </a:lnTo>
                  <a:cubicBezTo>
                    <a:pt x="1376263" y="0"/>
                    <a:pt x="1403461" y="27198"/>
                    <a:pt x="1403461" y="60748"/>
                  </a:cubicBezTo>
                  <a:close/>
                </a:path>
              </a:pathLst>
            </a:custGeom>
            <a:solidFill>
              <a:srgbClr val="F7F1F1"/>
            </a:solidFill>
          </p:spPr>
        </p:sp>
        <p:sp>
          <p:nvSpPr>
            <p:cNvPr name="TextBox 23" id="23"/>
            <p:cNvSpPr txBox="true"/>
            <p:nvPr/>
          </p:nvSpPr>
          <p:spPr>
            <a:xfrm>
              <a:off x="0" y="-47625"/>
              <a:ext cx="1403461" cy="921073"/>
            </a:xfrm>
            <a:prstGeom prst="rect">
              <a:avLst/>
            </a:prstGeom>
          </p:spPr>
          <p:txBody>
            <a:bodyPr anchor="ctr" rtlCol="false" tIns="50800" lIns="50800" bIns="50800" rIns="50800"/>
            <a:lstStyle/>
            <a:p>
              <a:pPr algn="ctr">
                <a:lnSpc>
                  <a:spcPts val="3257"/>
                </a:lnSpc>
              </a:pPr>
            </a:p>
          </p:txBody>
        </p:sp>
      </p:grpSp>
      <p:grpSp>
        <p:nvGrpSpPr>
          <p:cNvPr name="Group 24" id="24"/>
          <p:cNvGrpSpPr/>
          <p:nvPr/>
        </p:nvGrpSpPr>
        <p:grpSpPr>
          <a:xfrm rot="0">
            <a:off x="12687069" y="2774765"/>
            <a:ext cx="4842829" cy="3013708"/>
            <a:chOff x="0" y="0"/>
            <a:chExt cx="1403461" cy="873448"/>
          </a:xfrm>
        </p:grpSpPr>
        <p:sp>
          <p:nvSpPr>
            <p:cNvPr name="Freeform 25" id="25"/>
            <p:cNvSpPr/>
            <p:nvPr/>
          </p:nvSpPr>
          <p:spPr>
            <a:xfrm flipH="false" flipV="false" rot="0">
              <a:off x="0" y="0"/>
              <a:ext cx="1403461" cy="873448"/>
            </a:xfrm>
            <a:custGeom>
              <a:avLst/>
              <a:gdLst/>
              <a:ahLst/>
              <a:cxnLst/>
              <a:rect r="r" b="b" t="t" l="l"/>
              <a:pathLst>
                <a:path h="873448" w="1403461">
                  <a:moveTo>
                    <a:pt x="1403461" y="60748"/>
                  </a:moveTo>
                  <a:lnTo>
                    <a:pt x="1403461" y="812699"/>
                  </a:lnTo>
                  <a:cubicBezTo>
                    <a:pt x="1403461" y="828811"/>
                    <a:pt x="1397061" y="844262"/>
                    <a:pt x="1385669" y="855655"/>
                  </a:cubicBezTo>
                  <a:cubicBezTo>
                    <a:pt x="1374276" y="867047"/>
                    <a:pt x="1358825" y="873448"/>
                    <a:pt x="1342713" y="873448"/>
                  </a:cubicBezTo>
                  <a:lnTo>
                    <a:pt x="60748" y="873448"/>
                  </a:lnTo>
                  <a:cubicBezTo>
                    <a:pt x="44637" y="873448"/>
                    <a:pt x="29185" y="867047"/>
                    <a:pt x="17793" y="855655"/>
                  </a:cubicBezTo>
                  <a:cubicBezTo>
                    <a:pt x="6400" y="844262"/>
                    <a:pt x="0" y="828811"/>
                    <a:pt x="0" y="812699"/>
                  </a:cubicBezTo>
                  <a:lnTo>
                    <a:pt x="0" y="60748"/>
                  </a:lnTo>
                  <a:cubicBezTo>
                    <a:pt x="0" y="44637"/>
                    <a:pt x="6400" y="29185"/>
                    <a:pt x="17793" y="17793"/>
                  </a:cubicBezTo>
                  <a:cubicBezTo>
                    <a:pt x="29185" y="6400"/>
                    <a:pt x="44637" y="0"/>
                    <a:pt x="60748" y="0"/>
                  </a:cubicBezTo>
                  <a:lnTo>
                    <a:pt x="1342713" y="0"/>
                  </a:lnTo>
                  <a:cubicBezTo>
                    <a:pt x="1376263" y="0"/>
                    <a:pt x="1403461" y="27198"/>
                    <a:pt x="1403461" y="60748"/>
                  </a:cubicBezTo>
                  <a:close/>
                </a:path>
              </a:pathLst>
            </a:custGeom>
            <a:solidFill>
              <a:srgbClr val="F7F1F1"/>
            </a:solidFill>
          </p:spPr>
        </p:sp>
        <p:sp>
          <p:nvSpPr>
            <p:cNvPr name="TextBox 26" id="26"/>
            <p:cNvSpPr txBox="true"/>
            <p:nvPr/>
          </p:nvSpPr>
          <p:spPr>
            <a:xfrm>
              <a:off x="0" y="-47625"/>
              <a:ext cx="1403461" cy="921073"/>
            </a:xfrm>
            <a:prstGeom prst="rect">
              <a:avLst/>
            </a:prstGeom>
          </p:spPr>
          <p:txBody>
            <a:bodyPr anchor="ctr" rtlCol="false" tIns="50800" lIns="50800" bIns="50800" rIns="50800"/>
            <a:lstStyle/>
            <a:p>
              <a:pPr algn="ctr">
                <a:lnSpc>
                  <a:spcPts val="3257"/>
                </a:lnSpc>
              </a:pPr>
            </a:p>
          </p:txBody>
        </p:sp>
      </p:grpSp>
      <p:sp>
        <p:nvSpPr>
          <p:cNvPr name="Freeform 27" id="27"/>
          <p:cNvSpPr/>
          <p:nvPr/>
        </p:nvSpPr>
        <p:spPr>
          <a:xfrm flipH="false" flipV="false" rot="0">
            <a:off x="8791968" y="4110357"/>
            <a:ext cx="704065" cy="728343"/>
          </a:xfrm>
          <a:custGeom>
            <a:avLst/>
            <a:gdLst/>
            <a:ahLst/>
            <a:cxnLst/>
            <a:rect r="r" b="b" t="t" l="l"/>
            <a:pathLst>
              <a:path h="728343" w="704065">
                <a:moveTo>
                  <a:pt x="0" y="0"/>
                </a:moveTo>
                <a:lnTo>
                  <a:pt x="704064" y="0"/>
                </a:lnTo>
                <a:lnTo>
                  <a:pt x="704064" y="728343"/>
                </a:lnTo>
                <a:lnTo>
                  <a:pt x="0" y="728343"/>
                </a:lnTo>
                <a:lnTo>
                  <a:pt x="0" y="0"/>
                </a:lnTo>
                <a:close/>
              </a:path>
            </a:pathLst>
          </a:custGeom>
          <a:blipFill>
            <a:blip r:embed="rId6"/>
            <a:stretch>
              <a:fillRect l="0" t="0" r="0" b="0"/>
            </a:stretch>
          </a:blipFill>
        </p:spPr>
      </p:sp>
      <p:sp>
        <p:nvSpPr>
          <p:cNvPr name="Freeform 28" id="28"/>
          <p:cNvSpPr/>
          <p:nvPr/>
        </p:nvSpPr>
        <p:spPr>
          <a:xfrm flipH="false" flipV="false" rot="0">
            <a:off x="15056868" y="6529323"/>
            <a:ext cx="642421" cy="653497"/>
          </a:xfrm>
          <a:custGeom>
            <a:avLst/>
            <a:gdLst/>
            <a:ahLst/>
            <a:cxnLst/>
            <a:rect r="r" b="b" t="t" l="l"/>
            <a:pathLst>
              <a:path h="653497" w="642421">
                <a:moveTo>
                  <a:pt x="0" y="0"/>
                </a:moveTo>
                <a:lnTo>
                  <a:pt x="642421" y="0"/>
                </a:lnTo>
                <a:lnTo>
                  <a:pt x="642421" y="653497"/>
                </a:lnTo>
                <a:lnTo>
                  <a:pt x="0" y="653497"/>
                </a:lnTo>
                <a:lnTo>
                  <a:pt x="0" y="0"/>
                </a:lnTo>
                <a:close/>
              </a:path>
            </a:pathLst>
          </a:custGeom>
          <a:blipFill>
            <a:blip r:embed="rId7"/>
            <a:stretch>
              <a:fillRect l="0" t="0" r="0" b="0"/>
            </a:stretch>
          </a:blipFill>
        </p:spPr>
      </p:sp>
      <p:sp>
        <p:nvSpPr>
          <p:cNvPr name="TextBox 29" id="29"/>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30" id="30"/>
          <p:cNvSpPr txBox="true"/>
          <p:nvPr/>
        </p:nvSpPr>
        <p:spPr>
          <a:xfrm rot="0">
            <a:off x="1144436" y="3127178"/>
            <a:ext cx="4179916" cy="580666"/>
          </a:xfrm>
          <a:prstGeom prst="rect">
            <a:avLst/>
          </a:prstGeom>
        </p:spPr>
        <p:txBody>
          <a:bodyPr anchor="t" rtlCol="false" tIns="0" lIns="0" bIns="0" rIns="0">
            <a:spAutoFit/>
          </a:bodyPr>
          <a:lstStyle/>
          <a:p>
            <a:pPr algn="l">
              <a:lnSpc>
                <a:spcPts val="4744"/>
              </a:lnSpc>
              <a:spcBef>
                <a:spcPct val="0"/>
              </a:spcBef>
            </a:pPr>
            <a:r>
              <a:rPr lang="en-US" b="true" sz="3389">
                <a:solidFill>
                  <a:srgbClr val="0C1D4B"/>
                </a:solidFill>
                <a:latin typeface="Montserrat Bold"/>
                <a:ea typeface="Montserrat Bold"/>
                <a:cs typeface="Montserrat Bold"/>
                <a:sym typeface="Montserrat Bold"/>
              </a:rPr>
              <a:t>Déficit de Stock</a:t>
            </a:r>
          </a:p>
        </p:txBody>
      </p:sp>
      <p:sp>
        <p:nvSpPr>
          <p:cNvPr name="TextBox 31" id="31"/>
          <p:cNvSpPr txBox="true"/>
          <p:nvPr/>
        </p:nvSpPr>
        <p:spPr>
          <a:xfrm rot="0">
            <a:off x="1028700" y="3929382"/>
            <a:ext cx="4808717" cy="1567815"/>
          </a:xfrm>
          <a:prstGeom prst="rect">
            <a:avLst/>
          </a:prstGeom>
        </p:spPr>
        <p:txBody>
          <a:bodyPr anchor="t" rtlCol="false" tIns="0" lIns="0" bIns="0" rIns="0">
            <a:spAutoFit/>
          </a:bodyPr>
          <a:lstStyle/>
          <a:p>
            <a:pPr algn="l">
              <a:lnSpc>
                <a:spcPts val="4200"/>
              </a:lnSpc>
            </a:pPr>
            <a:r>
              <a:rPr lang="en-US" sz="2100" b="true">
                <a:solidFill>
                  <a:srgbClr val="3C4F75"/>
                </a:solidFill>
                <a:latin typeface="Public Sans Bold"/>
                <a:ea typeface="Public Sans Bold"/>
                <a:cs typeface="Public Sans Bold"/>
                <a:sym typeface="Public Sans Bold"/>
              </a:rPr>
              <a:t>Ruptures fréquentes de stock sanguins dues à un suivi manuel et non centralisé</a:t>
            </a:r>
          </a:p>
        </p:txBody>
      </p:sp>
      <p:sp>
        <p:nvSpPr>
          <p:cNvPr name="TextBox 32" id="32"/>
          <p:cNvSpPr txBox="true"/>
          <p:nvPr/>
        </p:nvSpPr>
        <p:spPr>
          <a:xfrm rot="0">
            <a:off x="7448779" y="5863432"/>
            <a:ext cx="3390442" cy="580666"/>
          </a:xfrm>
          <a:prstGeom prst="rect">
            <a:avLst/>
          </a:prstGeom>
        </p:spPr>
        <p:txBody>
          <a:bodyPr anchor="t" rtlCol="false" tIns="0" lIns="0" bIns="0" rIns="0">
            <a:spAutoFit/>
          </a:bodyPr>
          <a:lstStyle/>
          <a:p>
            <a:pPr algn="l">
              <a:lnSpc>
                <a:spcPts val="4744"/>
              </a:lnSpc>
              <a:spcBef>
                <a:spcPct val="0"/>
              </a:spcBef>
            </a:pPr>
            <a:r>
              <a:rPr lang="en-US" b="true" sz="3389">
                <a:solidFill>
                  <a:srgbClr val="0C1D4B"/>
                </a:solidFill>
                <a:latin typeface="Montserrat Bold"/>
                <a:ea typeface="Montserrat Bold"/>
                <a:cs typeface="Montserrat Bold"/>
                <a:sym typeface="Montserrat Bold"/>
              </a:rPr>
              <a:t>Retards Fatals</a:t>
            </a:r>
          </a:p>
        </p:txBody>
      </p:sp>
      <p:sp>
        <p:nvSpPr>
          <p:cNvPr name="TextBox 33" id="33"/>
          <p:cNvSpPr txBox="true"/>
          <p:nvPr/>
        </p:nvSpPr>
        <p:spPr>
          <a:xfrm rot="0">
            <a:off x="6900238" y="6442261"/>
            <a:ext cx="4808717" cy="1567815"/>
          </a:xfrm>
          <a:prstGeom prst="rect">
            <a:avLst/>
          </a:prstGeom>
        </p:spPr>
        <p:txBody>
          <a:bodyPr anchor="t" rtlCol="false" tIns="0" lIns="0" bIns="0" rIns="0">
            <a:spAutoFit/>
          </a:bodyPr>
          <a:lstStyle/>
          <a:p>
            <a:pPr algn="l">
              <a:lnSpc>
                <a:spcPts val="4200"/>
              </a:lnSpc>
            </a:pPr>
            <a:r>
              <a:rPr lang="en-US" sz="2100" b="true">
                <a:solidFill>
                  <a:srgbClr val="3C4F75"/>
                </a:solidFill>
                <a:latin typeface="Public Sans Bold"/>
                <a:ea typeface="Public Sans Bold"/>
                <a:cs typeface="Public Sans Bold"/>
                <a:sym typeface="Public Sans Bold"/>
              </a:rPr>
              <a:t>Lenteur critique dans le traitement des demandes urgentes engageant</a:t>
            </a:r>
          </a:p>
          <a:p>
            <a:pPr algn="l">
              <a:lnSpc>
                <a:spcPts val="4200"/>
              </a:lnSpc>
            </a:pPr>
            <a:r>
              <a:rPr lang="en-US" sz="2100" b="true">
                <a:solidFill>
                  <a:srgbClr val="3C4F75"/>
                </a:solidFill>
                <a:latin typeface="Public Sans Bold"/>
                <a:ea typeface="Public Sans Bold"/>
                <a:cs typeface="Public Sans Bold"/>
                <a:sym typeface="Public Sans Bold"/>
              </a:rPr>
              <a:t> le pronostic vital</a:t>
            </a:r>
          </a:p>
        </p:txBody>
      </p:sp>
      <p:sp>
        <p:nvSpPr>
          <p:cNvPr name="TextBox 34" id="34"/>
          <p:cNvSpPr txBox="true"/>
          <p:nvPr/>
        </p:nvSpPr>
        <p:spPr>
          <a:xfrm rot="0">
            <a:off x="12434233" y="2827140"/>
            <a:ext cx="5245271" cy="1180741"/>
          </a:xfrm>
          <a:prstGeom prst="rect">
            <a:avLst/>
          </a:prstGeom>
        </p:spPr>
        <p:txBody>
          <a:bodyPr anchor="t" rtlCol="false" tIns="0" lIns="0" bIns="0" rIns="0">
            <a:spAutoFit/>
          </a:bodyPr>
          <a:lstStyle/>
          <a:p>
            <a:pPr algn="ctr">
              <a:lnSpc>
                <a:spcPts val="4744"/>
              </a:lnSpc>
              <a:spcBef>
                <a:spcPct val="0"/>
              </a:spcBef>
            </a:pPr>
            <a:r>
              <a:rPr lang="en-US" b="true" sz="3389">
                <a:solidFill>
                  <a:srgbClr val="0C1D4B"/>
                </a:solidFill>
                <a:latin typeface="Montserrat Bold"/>
                <a:ea typeface="Montserrat Bold"/>
                <a:cs typeface="Montserrat Bold"/>
                <a:sym typeface="Montserrat Bold"/>
              </a:rPr>
              <a:t>Abscence de Traçabilité</a:t>
            </a:r>
          </a:p>
        </p:txBody>
      </p:sp>
      <p:sp>
        <p:nvSpPr>
          <p:cNvPr name="TextBox 35" id="35"/>
          <p:cNvSpPr txBox="true"/>
          <p:nvPr/>
        </p:nvSpPr>
        <p:spPr>
          <a:xfrm rot="0">
            <a:off x="12870787" y="3929382"/>
            <a:ext cx="4808717" cy="1567815"/>
          </a:xfrm>
          <a:prstGeom prst="rect">
            <a:avLst/>
          </a:prstGeom>
        </p:spPr>
        <p:txBody>
          <a:bodyPr anchor="t" rtlCol="false" tIns="0" lIns="0" bIns="0" rIns="0">
            <a:spAutoFit/>
          </a:bodyPr>
          <a:lstStyle/>
          <a:p>
            <a:pPr algn="l">
              <a:lnSpc>
                <a:spcPts val="4200"/>
              </a:lnSpc>
            </a:pPr>
            <a:r>
              <a:rPr lang="en-US" sz="2100" b="true">
                <a:solidFill>
                  <a:srgbClr val="3C4F75"/>
                </a:solidFill>
                <a:latin typeface="Public Sans Bold"/>
                <a:ea typeface="Public Sans Bold"/>
                <a:cs typeface="Public Sans Bold"/>
                <a:sym typeface="Public Sans Bold"/>
              </a:rPr>
              <a:t>Impossibilté de suivre précisément les donneurs et le parcours des poches de sang</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952A2A"/>
        </a:solidFill>
      </p:bgPr>
    </p:bg>
    <p:spTree>
      <p:nvGrpSpPr>
        <p:cNvPr id="1" name=""/>
        <p:cNvGrpSpPr/>
        <p:nvPr/>
      </p:nvGrpSpPr>
      <p:grpSpPr>
        <a:xfrm>
          <a:off x="0" y="0"/>
          <a:ext cx="0" cy="0"/>
          <a:chOff x="0" y="0"/>
          <a:chExt cx="0" cy="0"/>
        </a:xfrm>
      </p:grpSpPr>
      <p:sp>
        <p:nvSpPr>
          <p:cNvPr name="TextBox 2" id="2"/>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3" id="3"/>
          <p:cNvSpPr txBox="true"/>
          <p:nvPr/>
        </p:nvSpPr>
        <p:spPr>
          <a:xfrm rot="0">
            <a:off x="5474946" y="4186057"/>
            <a:ext cx="7338109" cy="1724385"/>
          </a:xfrm>
          <a:prstGeom prst="rect">
            <a:avLst/>
          </a:prstGeom>
        </p:spPr>
        <p:txBody>
          <a:bodyPr anchor="t" rtlCol="false" tIns="0" lIns="0" bIns="0" rIns="0">
            <a:spAutoFit/>
          </a:bodyPr>
          <a:lstStyle/>
          <a:p>
            <a:pPr algn="l">
              <a:lnSpc>
                <a:spcPts val="14155"/>
              </a:lnSpc>
              <a:spcBef>
                <a:spcPct val="0"/>
              </a:spcBef>
            </a:pPr>
            <a:r>
              <a:rPr lang="en-US" b="true" sz="10110">
                <a:solidFill>
                  <a:srgbClr val="F7F1F1"/>
                </a:solidFill>
                <a:latin typeface="Oswald Bold"/>
                <a:ea typeface="Oswald Bold"/>
                <a:cs typeface="Oswald Bold"/>
                <a:sym typeface="Oswald Bold"/>
              </a:rPr>
              <a:t>ÉTUDE MÉTIER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166125" y="87181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2166125" y="2486379"/>
            <a:ext cx="4699789" cy="940195"/>
          </a:xfrm>
          <a:custGeom>
            <a:avLst/>
            <a:gdLst/>
            <a:ahLst/>
            <a:cxnLst/>
            <a:rect r="r" b="b" t="t" l="l"/>
            <a:pathLst>
              <a:path h="940195" w="4699789">
                <a:moveTo>
                  <a:pt x="0" y="0"/>
                </a:moveTo>
                <a:lnTo>
                  <a:pt x="4699789" y="0"/>
                </a:lnTo>
                <a:lnTo>
                  <a:pt x="4699789" y="940194"/>
                </a:lnTo>
                <a:lnTo>
                  <a:pt x="0" y="940194"/>
                </a:lnTo>
                <a:lnTo>
                  <a:pt x="0" y="0"/>
                </a:lnTo>
                <a:close/>
              </a:path>
            </a:pathLst>
          </a:custGeom>
          <a:blipFill>
            <a:blip r:embed="rId6">
              <a:alphaModFix amt="42000"/>
            </a:blip>
            <a:stretch>
              <a:fillRect l="0" t="-30604" r="0" b="-30604"/>
            </a:stretch>
          </a:blipFill>
        </p:spPr>
      </p:sp>
      <p:sp>
        <p:nvSpPr>
          <p:cNvPr name="TextBox 10" id="10"/>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1" id="11"/>
          <p:cNvSpPr txBox="true"/>
          <p:nvPr/>
        </p:nvSpPr>
        <p:spPr>
          <a:xfrm rot="0">
            <a:off x="381394" y="894607"/>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ÉTUDE MÉT</a:t>
            </a:r>
            <a:r>
              <a:rPr lang="en-US" b="true" sz="10110">
                <a:solidFill>
                  <a:srgbClr val="952A2A"/>
                </a:solidFill>
                <a:latin typeface="Oswald Bold"/>
                <a:ea typeface="Oswald Bold"/>
                <a:cs typeface="Oswald Bold"/>
                <a:sym typeface="Oswald Bold"/>
              </a:rPr>
              <a:t>IER</a:t>
            </a:r>
          </a:p>
        </p:txBody>
      </p:sp>
      <p:sp>
        <p:nvSpPr>
          <p:cNvPr name="TextBox 12" id="12"/>
          <p:cNvSpPr txBox="true"/>
          <p:nvPr/>
        </p:nvSpPr>
        <p:spPr>
          <a:xfrm rot="0">
            <a:off x="1433126" y="2964973"/>
            <a:ext cx="15421747" cy="7430049"/>
          </a:xfrm>
          <a:prstGeom prst="rect">
            <a:avLst/>
          </a:prstGeom>
        </p:spPr>
        <p:txBody>
          <a:bodyPr anchor="t" rtlCol="false" tIns="0" lIns="0" bIns="0" rIns="0">
            <a:spAutoFit/>
          </a:bodyPr>
          <a:lstStyle/>
          <a:p>
            <a:pPr algn="just">
              <a:lnSpc>
                <a:spcPts val="4958"/>
              </a:lnSpc>
            </a:pPr>
            <a:r>
              <a:rPr lang="en-US" sz="2479" b="true">
                <a:solidFill>
                  <a:srgbClr val="0E1D40"/>
                </a:solidFill>
                <a:latin typeface="Public Sans Bold"/>
                <a:ea typeface="Public Sans Bold"/>
                <a:cs typeface="Public Sans Bold"/>
                <a:sym typeface="Public Sans Bold"/>
              </a:rPr>
              <a:t>Le projet vise à concevoir une solution numérique centralisée dédiée à la gestion du don de sang, permettant à chaque utilisateur d’interagir efficacement selon son rôle.</a:t>
            </a:r>
          </a:p>
          <a:p>
            <a:pPr algn="just">
              <a:lnSpc>
                <a:spcPts val="4958"/>
              </a:lnSpc>
            </a:pPr>
            <a:r>
              <a:rPr lang="en-US" sz="2479" b="true">
                <a:solidFill>
                  <a:srgbClr val="0E1D40"/>
                </a:solidFill>
                <a:latin typeface="Public Sans Bold"/>
                <a:ea typeface="Public Sans Bold"/>
                <a:cs typeface="Public Sans Bold"/>
                <a:sym typeface="Public Sans Bold"/>
              </a:rPr>
              <a:t>Le</a:t>
            </a:r>
            <a:r>
              <a:rPr lang="en-US" sz="2479" b="true">
                <a:solidFill>
                  <a:srgbClr val="0E1D40"/>
                </a:solidFill>
                <a:latin typeface="Public Sans Bold"/>
                <a:ea typeface="Public Sans Bold"/>
                <a:cs typeface="Public Sans Bold"/>
                <a:sym typeface="Public Sans Bold"/>
              </a:rPr>
              <a:t> donneur peut créer un compte, consulter les campagnes de don et suivre l’historique de ses dons.</a:t>
            </a:r>
          </a:p>
          <a:p>
            <a:pPr algn="just">
              <a:lnSpc>
                <a:spcPts val="4958"/>
              </a:lnSpc>
            </a:pPr>
            <a:r>
              <a:rPr lang="en-US" sz="2479" b="true">
                <a:solidFill>
                  <a:srgbClr val="0E1D40"/>
                </a:solidFill>
                <a:latin typeface="Public Sans Bold"/>
                <a:ea typeface="Public Sans Bold"/>
                <a:cs typeface="Public Sans Bold"/>
                <a:sym typeface="Public Sans Bold"/>
              </a:rPr>
              <a:t>Le</a:t>
            </a:r>
            <a:r>
              <a:rPr lang="en-US" sz="2479" b="true">
                <a:solidFill>
                  <a:srgbClr val="0E1D40"/>
                </a:solidFill>
                <a:latin typeface="Public Sans Bold"/>
                <a:ea typeface="Public Sans Bold"/>
                <a:cs typeface="Public Sans Bold"/>
                <a:sym typeface="Public Sans Bold"/>
              </a:rPr>
              <a:t> patient</a:t>
            </a:r>
            <a:r>
              <a:rPr lang="en-US" sz="2479" b="true">
                <a:solidFill>
                  <a:srgbClr val="0E1D40"/>
                </a:solidFill>
                <a:latin typeface="Public Sans Bold"/>
                <a:ea typeface="Public Sans Bold"/>
                <a:cs typeface="Public Sans Bold"/>
                <a:sym typeface="Public Sans Bold"/>
              </a:rPr>
              <a:t> peut envoyer rapidement une demande de sang et suivre son état en temps réel.</a:t>
            </a:r>
          </a:p>
          <a:p>
            <a:pPr algn="just">
              <a:lnSpc>
                <a:spcPts val="4958"/>
              </a:lnSpc>
            </a:pPr>
            <a:r>
              <a:rPr lang="en-US" sz="2479" b="true">
                <a:solidFill>
                  <a:srgbClr val="0E1D40"/>
                </a:solidFill>
                <a:latin typeface="Public Sans Bold"/>
                <a:ea typeface="Public Sans Bold"/>
                <a:cs typeface="Public Sans Bold"/>
                <a:sym typeface="Public Sans Bold"/>
              </a:rPr>
              <a:t>L’administrateur assure la gestion des donneurs, des patients, des stocks de sang et le traitement des demandes.</a:t>
            </a:r>
          </a:p>
          <a:p>
            <a:pPr algn="just">
              <a:lnSpc>
                <a:spcPts val="4958"/>
              </a:lnSpc>
            </a:pPr>
            <a:r>
              <a:rPr lang="en-US" sz="2479" b="true">
                <a:solidFill>
                  <a:srgbClr val="0E1D40"/>
                </a:solidFill>
                <a:latin typeface="Public Sans Bold"/>
                <a:ea typeface="Public Sans Bold"/>
                <a:cs typeface="Public Sans Bold"/>
                <a:sym typeface="Public Sans Bold"/>
              </a:rPr>
              <a:t>Enfin, le super administrateur gère les administrateurs et supervise le fonctionnement global de la plateforme afin d’assurer une gestion fiable et efficace du système.</a:t>
            </a:r>
          </a:p>
          <a:p>
            <a:pPr algn="just">
              <a:lnSpc>
                <a:spcPts val="4958"/>
              </a:lnSpc>
            </a:pPr>
          </a:p>
          <a:p>
            <a:pPr algn="just">
              <a:lnSpc>
                <a:spcPts val="4958"/>
              </a:lnSpc>
            </a:pPr>
          </a:p>
          <a:p>
            <a:pPr algn="just">
              <a:lnSpc>
                <a:spcPts val="4958"/>
              </a:lnSpc>
            </a:pPr>
          </a:p>
          <a:p>
            <a:pPr algn="just">
              <a:lnSpc>
                <a:spcPts val="4958"/>
              </a:lnSpc>
            </a:pPr>
          </a:p>
        </p:txBody>
      </p:sp>
      <p:sp>
        <p:nvSpPr>
          <p:cNvPr name="Freeform 13" id="13"/>
          <p:cNvSpPr/>
          <p:nvPr/>
        </p:nvSpPr>
        <p:spPr>
          <a:xfrm flipH="false" flipV="false" rot="0">
            <a:off x="15938105" y="7749382"/>
            <a:ext cx="4699789" cy="940195"/>
          </a:xfrm>
          <a:custGeom>
            <a:avLst/>
            <a:gdLst/>
            <a:ahLst/>
            <a:cxnLst/>
            <a:rect r="r" b="b" t="t" l="l"/>
            <a:pathLst>
              <a:path h="940195" w="4699789">
                <a:moveTo>
                  <a:pt x="0" y="0"/>
                </a:moveTo>
                <a:lnTo>
                  <a:pt x="4699790" y="0"/>
                </a:lnTo>
                <a:lnTo>
                  <a:pt x="4699790" y="940195"/>
                </a:lnTo>
                <a:lnTo>
                  <a:pt x="0" y="940195"/>
                </a:lnTo>
                <a:lnTo>
                  <a:pt x="0" y="0"/>
                </a:lnTo>
                <a:close/>
              </a:path>
            </a:pathLst>
          </a:custGeom>
          <a:blipFill>
            <a:blip r:embed="rId6">
              <a:alphaModFix amt="42000"/>
            </a:blip>
            <a:stretch>
              <a:fillRect l="0" t="-30604" r="0" b="-30604"/>
            </a:stretch>
          </a:blipFill>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952A2A"/>
        </a:solidFill>
      </p:bgPr>
    </p:bg>
    <p:spTree>
      <p:nvGrpSpPr>
        <p:cNvPr id="1" name=""/>
        <p:cNvGrpSpPr/>
        <p:nvPr/>
      </p:nvGrpSpPr>
      <p:grpSpPr>
        <a:xfrm>
          <a:off x="0" y="0"/>
          <a:ext cx="0" cy="0"/>
          <a:chOff x="0" y="0"/>
          <a:chExt cx="0" cy="0"/>
        </a:xfrm>
      </p:grpSpPr>
      <p:sp>
        <p:nvSpPr>
          <p:cNvPr name="TextBox 2" id="2"/>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3" id="3"/>
          <p:cNvSpPr txBox="true"/>
          <p:nvPr/>
        </p:nvSpPr>
        <p:spPr>
          <a:xfrm rot="0">
            <a:off x="4829012" y="4186057"/>
            <a:ext cx="8629976" cy="1724385"/>
          </a:xfrm>
          <a:prstGeom prst="rect">
            <a:avLst/>
          </a:prstGeom>
        </p:spPr>
        <p:txBody>
          <a:bodyPr anchor="t" rtlCol="false" tIns="0" lIns="0" bIns="0" rIns="0">
            <a:spAutoFit/>
          </a:bodyPr>
          <a:lstStyle/>
          <a:p>
            <a:pPr algn="l">
              <a:lnSpc>
                <a:spcPts val="14155"/>
              </a:lnSpc>
              <a:spcBef>
                <a:spcPct val="0"/>
              </a:spcBef>
            </a:pPr>
            <a:r>
              <a:rPr lang="en-US" b="true" sz="10110">
                <a:solidFill>
                  <a:srgbClr val="F7F1F1"/>
                </a:solidFill>
                <a:latin typeface="Oswald Bold"/>
                <a:ea typeface="Oswald Bold"/>
                <a:cs typeface="Oswald Bold"/>
                <a:sym typeface="Oswald Bold"/>
              </a:rPr>
              <a:t>Étude Technique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166125" y="87181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2166125" y="2486379"/>
            <a:ext cx="4699789" cy="940195"/>
          </a:xfrm>
          <a:custGeom>
            <a:avLst/>
            <a:gdLst/>
            <a:ahLst/>
            <a:cxnLst/>
            <a:rect r="r" b="b" t="t" l="l"/>
            <a:pathLst>
              <a:path h="940195" w="4699789">
                <a:moveTo>
                  <a:pt x="0" y="0"/>
                </a:moveTo>
                <a:lnTo>
                  <a:pt x="4699789" y="0"/>
                </a:lnTo>
                <a:lnTo>
                  <a:pt x="4699789" y="940194"/>
                </a:lnTo>
                <a:lnTo>
                  <a:pt x="0" y="940194"/>
                </a:lnTo>
                <a:lnTo>
                  <a:pt x="0" y="0"/>
                </a:lnTo>
                <a:close/>
              </a:path>
            </a:pathLst>
          </a:custGeom>
          <a:blipFill>
            <a:blip r:embed="rId6">
              <a:alphaModFix amt="42000"/>
            </a:blip>
            <a:stretch>
              <a:fillRect l="0" t="-30604" r="0" b="-30604"/>
            </a:stretch>
          </a:blipFill>
        </p:spPr>
      </p:sp>
      <p:sp>
        <p:nvSpPr>
          <p:cNvPr name="TextBox 10" id="10"/>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1" id="11"/>
          <p:cNvSpPr txBox="true"/>
          <p:nvPr/>
        </p:nvSpPr>
        <p:spPr>
          <a:xfrm rot="0">
            <a:off x="381394" y="894607"/>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Étude Technique</a:t>
            </a:r>
          </a:p>
        </p:txBody>
      </p:sp>
      <p:sp>
        <p:nvSpPr>
          <p:cNvPr name="TextBox 12" id="12"/>
          <p:cNvSpPr txBox="true"/>
          <p:nvPr/>
        </p:nvSpPr>
        <p:spPr>
          <a:xfrm rot="0">
            <a:off x="1624514" y="3624114"/>
            <a:ext cx="15421747" cy="5604054"/>
          </a:xfrm>
          <a:prstGeom prst="rect">
            <a:avLst/>
          </a:prstGeom>
        </p:spPr>
        <p:txBody>
          <a:bodyPr anchor="t" rtlCol="false" tIns="0" lIns="0" bIns="0" rIns="0">
            <a:spAutoFit/>
          </a:bodyPr>
          <a:lstStyle/>
          <a:p>
            <a:pPr algn="just">
              <a:lnSpc>
                <a:spcPts val="6158"/>
              </a:lnSpc>
            </a:pPr>
            <a:r>
              <a:rPr lang="en-US" sz="3079" b="true">
                <a:solidFill>
                  <a:srgbClr val="0E1D40"/>
                </a:solidFill>
                <a:latin typeface="Public Sans Bold"/>
                <a:ea typeface="Public Sans Bold"/>
                <a:cs typeface="Public Sans Bold"/>
                <a:sym typeface="Public Sans Bold"/>
              </a:rPr>
              <a:t>Dans ce projet, une architecture basée sur les microservices a été adoptée afin d’ass</a:t>
            </a:r>
            <a:r>
              <a:rPr lang="en-US" sz="3079" b="true">
                <a:solidFill>
                  <a:srgbClr val="0E1D40"/>
                </a:solidFill>
                <a:latin typeface="Public Sans Bold"/>
                <a:ea typeface="Public Sans Bold"/>
                <a:cs typeface="Public Sans Bold"/>
                <a:sym typeface="Public Sans Bold"/>
              </a:rPr>
              <a:t>urer la modularité, la flexibilité et la scalabilité</a:t>
            </a:r>
            <a:r>
              <a:rPr lang="en-US" sz="3079" b="true">
                <a:solidFill>
                  <a:srgbClr val="0E1D40"/>
                </a:solidFill>
                <a:latin typeface="Public Sans Bold"/>
                <a:ea typeface="Public Sans Bold"/>
                <a:cs typeface="Public Sans Bold"/>
                <a:sym typeface="Public Sans Bold"/>
              </a:rPr>
              <a:t> du système. Chaque fonctionnalité (gestion des utilisateurs, des dons, des demandes et des stocks) est implémentée sous forme de service communiquant via des API REST.</a:t>
            </a:r>
          </a:p>
          <a:p>
            <a:pPr algn="just">
              <a:lnSpc>
                <a:spcPts val="4958"/>
              </a:lnSpc>
            </a:pPr>
          </a:p>
          <a:p>
            <a:pPr algn="just">
              <a:lnSpc>
                <a:spcPts val="4958"/>
              </a:lnSpc>
            </a:pPr>
          </a:p>
          <a:p>
            <a:pPr algn="just">
              <a:lnSpc>
                <a:spcPts val="4958"/>
              </a:lnSpc>
            </a:pPr>
          </a:p>
          <a:p>
            <a:pPr algn="just">
              <a:lnSpc>
                <a:spcPts val="4958"/>
              </a:lnSpc>
            </a:pPr>
          </a:p>
        </p:txBody>
      </p:sp>
      <p:sp>
        <p:nvSpPr>
          <p:cNvPr name="Freeform 13" id="13"/>
          <p:cNvSpPr/>
          <p:nvPr/>
        </p:nvSpPr>
        <p:spPr>
          <a:xfrm flipH="false" flipV="false" rot="0">
            <a:off x="15938105" y="7749382"/>
            <a:ext cx="4699789" cy="940195"/>
          </a:xfrm>
          <a:custGeom>
            <a:avLst/>
            <a:gdLst/>
            <a:ahLst/>
            <a:cxnLst/>
            <a:rect r="r" b="b" t="t" l="l"/>
            <a:pathLst>
              <a:path h="940195" w="4699789">
                <a:moveTo>
                  <a:pt x="0" y="0"/>
                </a:moveTo>
                <a:lnTo>
                  <a:pt x="4699790" y="0"/>
                </a:lnTo>
                <a:lnTo>
                  <a:pt x="4699790" y="940195"/>
                </a:lnTo>
                <a:lnTo>
                  <a:pt x="0" y="940195"/>
                </a:lnTo>
                <a:lnTo>
                  <a:pt x="0" y="0"/>
                </a:lnTo>
                <a:close/>
              </a:path>
            </a:pathLst>
          </a:custGeom>
          <a:blipFill>
            <a:blip r:embed="rId6">
              <a:alphaModFix amt="42000"/>
            </a:blip>
            <a:stretch>
              <a:fillRect l="0" t="-30604" r="0" b="-30604"/>
            </a:stretch>
          </a:blipFill>
        </p:spPr>
      </p:sp>
      <p:sp>
        <p:nvSpPr>
          <p:cNvPr name="TextBox 14" id="14"/>
          <p:cNvSpPr txBox="true"/>
          <p:nvPr/>
        </p:nvSpPr>
        <p:spPr>
          <a:xfrm rot="0">
            <a:off x="1102591" y="2880276"/>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1. Architecture du système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166125" y="87181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2166125" y="2486379"/>
            <a:ext cx="4699789" cy="940195"/>
          </a:xfrm>
          <a:custGeom>
            <a:avLst/>
            <a:gdLst/>
            <a:ahLst/>
            <a:cxnLst/>
            <a:rect r="r" b="b" t="t" l="l"/>
            <a:pathLst>
              <a:path h="940195" w="4699789">
                <a:moveTo>
                  <a:pt x="0" y="0"/>
                </a:moveTo>
                <a:lnTo>
                  <a:pt x="4699789" y="0"/>
                </a:lnTo>
                <a:lnTo>
                  <a:pt x="4699789" y="940194"/>
                </a:lnTo>
                <a:lnTo>
                  <a:pt x="0" y="940194"/>
                </a:lnTo>
                <a:lnTo>
                  <a:pt x="0" y="0"/>
                </a:lnTo>
                <a:close/>
              </a:path>
            </a:pathLst>
          </a:custGeom>
          <a:blipFill>
            <a:blip r:embed="rId6">
              <a:alphaModFix amt="42000"/>
            </a:blip>
            <a:stretch>
              <a:fillRect l="0" t="-30604" r="0" b="-30604"/>
            </a:stretch>
          </a:blipFill>
        </p:spPr>
      </p:sp>
      <p:sp>
        <p:nvSpPr>
          <p:cNvPr name="TextBox 10" id="10"/>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1" id="11"/>
          <p:cNvSpPr txBox="true"/>
          <p:nvPr/>
        </p:nvSpPr>
        <p:spPr>
          <a:xfrm rot="0">
            <a:off x="381394" y="894607"/>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Étude Technique</a:t>
            </a:r>
          </a:p>
        </p:txBody>
      </p:sp>
      <p:sp>
        <p:nvSpPr>
          <p:cNvPr name="Freeform 12" id="12"/>
          <p:cNvSpPr/>
          <p:nvPr/>
        </p:nvSpPr>
        <p:spPr>
          <a:xfrm flipH="false" flipV="false" rot="0">
            <a:off x="15938105" y="7749382"/>
            <a:ext cx="4699789" cy="940195"/>
          </a:xfrm>
          <a:custGeom>
            <a:avLst/>
            <a:gdLst/>
            <a:ahLst/>
            <a:cxnLst/>
            <a:rect r="r" b="b" t="t" l="l"/>
            <a:pathLst>
              <a:path h="940195" w="4699789">
                <a:moveTo>
                  <a:pt x="0" y="0"/>
                </a:moveTo>
                <a:lnTo>
                  <a:pt x="4699790" y="0"/>
                </a:lnTo>
                <a:lnTo>
                  <a:pt x="4699790" y="940195"/>
                </a:lnTo>
                <a:lnTo>
                  <a:pt x="0" y="940195"/>
                </a:lnTo>
                <a:lnTo>
                  <a:pt x="0" y="0"/>
                </a:lnTo>
                <a:close/>
              </a:path>
            </a:pathLst>
          </a:custGeom>
          <a:blipFill>
            <a:blip r:embed="rId6">
              <a:alphaModFix amt="42000"/>
            </a:blip>
            <a:stretch>
              <a:fillRect l="0" t="-30604" r="0" b="-30604"/>
            </a:stretch>
          </a:blipFill>
        </p:spPr>
      </p:sp>
      <p:sp>
        <p:nvSpPr>
          <p:cNvPr name="TextBox 13" id="13"/>
          <p:cNvSpPr txBox="true"/>
          <p:nvPr/>
        </p:nvSpPr>
        <p:spPr>
          <a:xfrm rot="0">
            <a:off x="1028700" y="2880276"/>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1. Architecture du système</a:t>
            </a:r>
          </a:p>
        </p:txBody>
      </p:sp>
      <p:sp>
        <p:nvSpPr>
          <p:cNvPr name="TextBox 14" id="14"/>
          <p:cNvSpPr txBox="true"/>
          <p:nvPr/>
        </p:nvSpPr>
        <p:spPr>
          <a:xfrm rot="0">
            <a:off x="1581726" y="3645393"/>
            <a:ext cx="7146427" cy="505101"/>
          </a:xfrm>
          <a:prstGeom prst="rect">
            <a:avLst/>
          </a:prstGeom>
        </p:spPr>
        <p:txBody>
          <a:bodyPr anchor="t" rtlCol="false" tIns="0" lIns="0" bIns="0" rIns="0">
            <a:spAutoFit/>
          </a:bodyPr>
          <a:lstStyle/>
          <a:p>
            <a:pPr algn="l">
              <a:lnSpc>
                <a:spcPts val="4184"/>
              </a:lnSpc>
              <a:spcBef>
                <a:spcPct val="0"/>
              </a:spcBef>
            </a:pPr>
            <a:r>
              <a:rPr lang="en-US" b="true" sz="2989">
                <a:solidFill>
                  <a:srgbClr val="0C1D4B"/>
                </a:solidFill>
                <a:latin typeface="Montserrat Bold"/>
                <a:ea typeface="Montserrat Bold"/>
                <a:cs typeface="Montserrat Bold"/>
                <a:sym typeface="Montserrat Bold"/>
              </a:rPr>
              <a:t>a.Version Web</a:t>
            </a:r>
          </a:p>
        </p:txBody>
      </p:sp>
      <p:sp>
        <p:nvSpPr>
          <p:cNvPr name="TextBox 15" id="15"/>
          <p:cNvSpPr txBox="true"/>
          <p:nvPr/>
        </p:nvSpPr>
        <p:spPr>
          <a:xfrm rot="0">
            <a:off x="1028700" y="4515843"/>
            <a:ext cx="14299545" cy="3124476"/>
          </a:xfrm>
          <a:prstGeom prst="rect">
            <a:avLst/>
          </a:prstGeom>
        </p:spPr>
        <p:txBody>
          <a:bodyPr anchor="t" rtlCol="false" tIns="0" lIns="0" bIns="0" rIns="0">
            <a:spAutoFit/>
          </a:bodyPr>
          <a:lstStyle/>
          <a:p>
            <a:pPr algn="just">
              <a:lnSpc>
                <a:spcPts val="4184"/>
              </a:lnSpc>
            </a:pPr>
            <a:r>
              <a:rPr lang="en-US" sz="2989">
                <a:solidFill>
                  <a:srgbClr val="0C1D4B"/>
                </a:solidFill>
                <a:latin typeface="Montserrat"/>
                <a:ea typeface="Montserrat"/>
                <a:cs typeface="Montserrat"/>
                <a:sym typeface="Montserrat"/>
              </a:rPr>
              <a:t>Back-end : Spring Boot ,permettant de créer des services robustes et sécurisés</a:t>
            </a:r>
          </a:p>
          <a:p>
            <a:pPr algn="just">
              <a:lnSpc>
                <a:spcPts val="4184"/>
              </a:lnSpc>
            </a:pPr>
            <a:r>
              <a:rPr lang="en-US" sz="2989">
                <a:solidFill>
                  <a:srgbClr val="0C1D4B"/>
                </a:solidFill>
                <a:latin typeface="Montserrat"/>
                <a:ea typeface="Montserrat"/>
                <a:cs typeface="Montserrat"/>
                <a:sym typeface="Montserrat"/>
              </a:rPr>
              <a:t>Front-end : Angular, pour offrir une interface utilisateur dynamique et intuitive</a:t>
            </a:r>
          </a:p>
          <a:p>
            <a:pPr algn="just">
              <a:lnSpc>
                <a:spcPts val="4184"/>
              </a:lnSpc>
              <a:spcBef>
                <a:spcPct val="0"/>
              </a:spcBef>
            </a:pPr>
            <a:r>
              <a:rPr lang="en-US" sz="2989">
                <a:solidFill>
                  <a:srgbClr val="0C1D4B"/>
                </a:solidFill>
                <a:latin typeface="Montserrat"/>
                <a:ea typeface="Montserrat"/>
                <a:cs typeface="Montserrat"/>
                <a:sym typeface="Montserrat"/>
              </a:rPr>
              <a:t>Base de données :MariaDB, un SGBDR performant qui assure le stockage structuré et sécurisé des informations du système.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166125" y="87181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2166125" y="2486379"/>
            <a:ext cx="4699789" cy="940195"/>
          </a:xfrm>
          <a:custGeom>
            <a:avLst/>
            <a:gdLst/>
            <a:ahLst/>
            <a:cxnLst/>
            <a:rect r="r" b="b" t="t" l="l"/>
            <a:pathLst>
              <a:path h="940195" w="4699789">
                <a:moveTo>
                  <a:pt x="0" y="0"/>
                </a:moveTo>
                <a:lnTo>
                  <a:pt x="4699789" y="0"/>
                </a:lnTo>
                <a:lnTo>
                  <a:pt x="4699789" y="940194"/>
                </a:lnTo>
                <a:lnTo>
                  <a:pt x="0" y="940194"/>
                </a:lnTo>
                <a:lnTo>
                  <a:pt x="0" y="0"/>
                </a:lnTo>
                <a:close/>
              </a:path>
            </a:pathLst>
          </a:custGeom>
          <a:blipFill>
            <a:blip r:embed="rId6">
              <a:alphaModFix amt="42000"/>
            </a:blip>
            <a:stretch>
              <a:fillRect l="0" t="-30604" r="0" b="-30604"/>
            </a:stretch>
          </a:blipFill>
        </p:spPr>
      </p:sp>
      <p:sp>
        <p:nvSpPr>
          <p:cNvPr name="TextBox 10" id="10"/>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1" id="11"/>
          <p:cNvSpPr txBox="true"/>
          <p:nvPr/>
        </p:nvSpPr>
        <p:spPr>
          <a:xfrm rot="0">
            <a:off x="381394" y="894607"/>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Étude Technique</a:t>
            </a:r>
          </a:p>
        </p:txBody>
      </p:sp>
      <p:sp>
        <p:nvSpPr>
          <p:cNvPr name="Freeform 12" id="12"/>
          <p:cNvSpPr/>
          <p:nvPr/>
        </p:nvSpPr>
        <p:spPr>
          <a:xfrm flipH="false" flipV="false" rot="0">
            <a:off x="15938105" y="7749382"/>
            <a:ext cx="4699789" cy="940195"/>
          </a:xfrm>
          <a:custGeom>
            <a:avLst/>
            <a:gdLst/>
            <a:ahLst/>
            <a:cxnLst/>
            <a:rect r="r" b="b" t="t" l="l"/>
            <a:pathLst>
              <a:path h="940195" w="4699789">
                <a:moveTo>
                  <a:pt x="0" y="0"/>
                </a:moveTo>
                <a:lnTo>
                  <a:pt x="4699790" y="0"/>
                </a:lnTo>
                <a:lnTo>
                  <a:pt x="4699790" y="940195"/>
                </a:lnTo>
                <a:lnTo>
                  <a:pt x="0" y="940195"/>
                </a:lnTo>
                <a:lnTo>
                  <a:pt x="0" y="0"/>
                </a:lnTo>
                <a:close/>
              </a:path>
            </a:pathLst>
          </a:custGeom>
          <a:blipFill>
            <a:blip r:embed="rId6">
              <a:alphaModFix amt="42000"/>
            </a:blip>
            <a:stretch>
              <a:fillRect l="0" t="-30604" r="0" b="-30604"/>
            </a:stretch>
          </a:blipFill>
        </p:spPr>
      </p:sp>
      <p:sp>
        <p:nvSpPr>
          <p:cNvPr name="TextBox 13" id="13"/>
          <p:cNvSpPr txBox="true"/>
          <p:nvPr/>
        </p:nvSpPr>
        <p:spPr>
          <a:xfrm rot="0">
            <a:off x="1028700" y="2880276"/>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1. Architecture du système</a:t>
            </a:r>
          </a:p>
        </p:txBody>
      </p:sp>
      <p:sp>
        <p:nvSpPr>
          <p:cNvPr name="TextBox 14" id="14"/>
          <p:cNvSpPr txBox="true"/>
          <p:nvPr/>
        </p:nvSpPr>
        <p:spPr>
          <a:xfrm rot="0">
            <a:off x="1581726" y="3645393"/>
            <a:ext cx="7146427" cy="505101"/>
          </a:xfrm>
          <a:prstGeom prst="rect">
            <a:avLst/>
          </a:prstGeom>
        </p:spPr>
        <p:txBody>
          <a:bodyPr anchor="t" rtlCol="false" tIns="0" lIns="0" bIns="0" rIns="0">
            <a:spAutoFit/>
          </a:bodyPr>
          <a:lstStyle/>
          <a:p>
            <a:pPr algn="l">
              <a:lnSpc>
                <a:spcPts val="4184"/>
              </a:lnSpc>
              <a:spcBef>
                <a:spcPct val="0"/>
              </a:spcBef>
            </a:pPr>
            <a:r>
              <a:rPr lang="en-US" b="true" sz="2989">
                <a:solidFill>
                  <a:srgbClr val="0C1D4B"/>
                </a:solidFill>
                <a:latin typeface="Montserrat Bold"/>
                <a:ea typeface="Montserrat Bold"/>
                <a:cs typeface="Montserrat Bold"/>
                <a:sym typeface="Montserrat Bold"/>
              </a:rPr>
              <a:t>a.Version Mobile</a:t>
            </a:r>
          </a:p>
        </p:txBody>
      </p:sp>
      <p:sp>
        <p:nvSpPr>
          <p:cNvPr name="TextBox 15" id="15"/>
          <p:cNvSpPr txBox="true"/>
          <p:nvPr/>
        </p:nvSpPr>
        <p:spPr>
          <a:xfrm rot="0">
            <a:off x="1025354" y="4624906"/>
            <a:ext cx="14299545" cy="3124476"/>
          </a:xfrm>
          <a:prstGeom prst="rect">
            <a:avLst/>
          </a:prstGeom>
        </p:spPr>
        <p:txBody>
          <a:bodyPr anchor="t" rtlCol="false" tIns="0" lIns="0" bIns="0" rIns="0">
            <a:spAutoFit/>
          </a:bodyPr>
          <a:lstStyle/>
          <a:p>
            <a:pPr algn="just">
              <a:lnSpc>
                <a:spcPts val="4184"/>
              </a:lnSpc>
            </a:pPr>
            <a:r>
              <a:rPr lang="en-US" sz="2989">
                <a:solidFill>
                  <a:srgbClr val="0C1D4B"/>
                </a:solidFill>
                <a:latin typeface="Montserrat"/>
                <a:ea typeface="Montserrat"/>
                <a:cs typeface="Montserrat"/>
                <a:sym typeface="Montserrat"/>
              </a:rPr>
              <a:t>Back-end : Spring Boot ,permettant de créer des services robustes et sécurisés</a:t>
            </a:r>
          </a:p>
          <a:p>
            <a:pPr algn="just">
              <a:lnSpc>
                <a:spcPts val="4184"/>
              </a:lnSpc>
            </a:pPr>
            <a:r>
              <a:rPr lang="en-US" sz="2989">
                <a:solidFill>
                  <a:srgbClr val="0C1D4B"/>
                </a:solidFill>
                <a:latin typeface="Montserrat"/>
                <a:ea typeface="Montserrat"/>
                <a:cs typeface="Montserrat"/>
                <a:sym typeface="Montserrat"/>
              </a:rPr>
              <a:t>Front-end : Flutter, permet de créer des applications performantes et compatibles</a:t>
            </a:r>
          </a:p>
          <a:p>
            <a:pPr algn="just">
              <a:lnSpc>
                <a:spcPts val="4184"/>
              </a:lnSpc>
              <a:spcBef>
                <a:spcPct val="0"/>
              </a:spcBef>
            </a:pPr>
            <a:r>
              <a:rPr lang="en-US" sz="2989">
                <a:solidFill>
                  <a:srgbClr val="0C1D4B"/>
                </a:solidFill>
                <a:latin typeface="Montserrat"/>
                <a:ea typeface="Montserrat"/>
                <a:cs typeface="Montserrat"/>
                <a:sym typeface="Montserrat"/>
              </a:rPr>
              <a:t>Base de données :MariaDB, un SGBDR performant qui assure le stockage structuré et sécurisé des informations du système.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166125" y="87181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2166125" y="2486379"/>
            <a:ext cx="4699789" cy="940195"/>
          </a:xfrm>
          <a:custGeom>
            <a:avLst/>
            <a:gdLst/>
            <a:ahLst/>
            <a:cxnLst/>
            <a:rect r="r" b="b" t="t" l="l"/>
            <a:pathLst>
              <a:path h="940195" w="4699789">
                <a:moveTo>
                  <a:pt x="0" y="0"/>
                </a:moveTo>
                <a:lnTo>
                  <a:pt x="4699789" y="0"/>
                </a:lnTo>
                <a:lnTo>
                  <a:pt x="4699789" y="940194"/>
                </a:lnTo>
                <a:lnTo>
                  <a:pt x="0" y="940194"/>
                </a:lnTo>
                <a:lnTo>
                  <a:pt x="0" y="0"/>
                </a:lnTo>
                <a:close/>
              </a:path>
            </a:pathLst>
          </a:custGeom>
          <a:blipFill>
            <a:blip r:embed="rId6">
              <a:alphaModFix amt="42000"/>
            </a:blip>
            <a:stretch>
              <a:fillRect l="0" t="-30604" r="0" b="-30604"/>
            </a:stretch>
          </a:blipFill>
        </p:spPr>
      </p:sp>
      <p:sp>
        <p:nvSpPr>
          <p:cNvPr name="Freeform 10" id="10"/>
          <p:cNvSpPr/>
          <p:nvPr/>
        </p:nvSpPr>
        <p:spPr>
          <a:xfrm flipH="false" flipV="false" rot="0">
            <a:off x="15938105" y="7749382"/>
            <a:ext cx="4699789" cy="940195"/>
          </a:xfrm>
          <a:custGeom>
            <a:avLst/>
            <a:gdLst/>
            <a:ahLst/>
            <a:cxnLst/>
            <a:rect r="r" b="b" t="t" l="l"/>
            <a:pathLst>
              <a:path h="940195" w="4699789">
                <a:moveTo>
                  <a:pt x="0" y="0"/>
                </a:moveTo>
                <a:lnTo>
                  <a:pt x="4699790" y="0"/>
                </a:lnTo>
                <a:lnTo>
                  <a:pt x="4699790" y="940195"/>
                </a:lnTo>
                <a:lnTo>
                  <a:pt x="0" y="940195"/>
                </a:lnTo>
                <a:lnTo>
                  <a:pt x="0" y="0"/>
                </a:lnTo>
                <a:close/>
              </a:path>
            </a:pathLst>
          </a:custGeom>
          <a:blipFill>
            <a:blip r:embed="rId6">
              <a:alphaModFix amt="42000"/>
            </a:blip>
            <a:stretch>
              <a:fillRect l="0" t="-30604" r="0" b="-30604"/>
            </a:stretch>
          </a:blipFill>
        </p:spPr>
      </p:sp>
      <p:sp>
        <p:nvSpPr>
          <p:cNvPr name="Freeform 11" id="11"/>
          <p:cNvSpPr/>
          <p:nvPr/>
        </p:nvSpPr>
        <p:spPr>
          <a:xfrm flipH="false" flipV="false" rot="0">
            <a:off x="1526180" y="5653363"/>
            <a:ext cx="2096019" cy="2096019"/>
          </a:xfrm>
          <a:custGeom>
            <a:avLst/>
            <a:gdLst/>
            <a:ahLst/>
            <a:cxnLst/>
            <a:rect r="r" b="b" t="t" l="l"/>
            <a:pathLst>
              <a:path h="2096019" w="2096019">
                <a:moveTo>
                  <a:pt x="0" y="0"/>
                </a:moveTo>
                <a:lnTo>
                  <a:pt x="2096019" y="0"/>
                </a:lnTo>
                <a:lnTo>
                  <a:pt x="2096019" y="2096019"/>
                </a:lnTo>
                <a:lnTo>
                  <a:pt x="0" y="2096019"/>
                </a:lnTo>
                <a:lnTo>
                  <a:pt x="0" y="0"/>
                </a:lnTo>
                <a:close/>
              </a:path>
            </a:pathLst>
          </a:custGeom>
          <a:blipFill>
            <a:blip r:embed="rId7"/>
            <a:stretch>
              <a:fillRect l="0" t="0" r="0" b="0"/>
            </a:stretch>
          </a:blipFill>
        </p:spPr>
      </p:sp>
      <p:sp>
        <p:nvSpPr>
          <p:cNvPr name="Freeform 12" id="12"/>
          <p:cNvSpPr/>
          <p:nvPr/>
        </p:nvSpPr>
        <p:spPr>
          <a:xfrm flipH="false" flipV="false" rot="0">
            <a:off x="270698" y="3781606"/>
            <a:ext cx="3351502" cy="1759538"/>
          </a:xfrm>
          <a:custGeom>
            <a:avLst/>
            <a:gdLst/>
            <a:ahLst/>
            <a:cxnLst/>
            <a:rect r="r" b="b" t="t" l="l"/>
            <a:pathLst>
              <a:path h="1759538" w="3351502">
                <a:moveTo>
                  <a:pt x="0" y="0"/>
                </a:moveTo>
                <a:lnTo>
                  <a:pt x="3351501" y="0"/>
                </a:lnTo>
                <a:lnTo>
                  <a:pt x="3351501" y="1759538"/>
                </a:lnTo>
                <a:lnTo>
                  <a:pt x="0" y="1759538"/>
                </a:lnTo>
                <a:lnTo>
                  <a:pt x="0" y="0"/>
                </a:lnTo>
                <a:close/>
              </a:path>
            </a:pathLst>
          </a:custGeom>
          <a:blipFill>
            <a:blip r:embed="rId8"/>
            <a:stretch>
              <a:fillRect l="0" t="0" r="0" b="0"/>
            </a:stretch>
          </a:blipFill>
        </p:spPr>
      </p:sp>
      <p:sp>
        <p:nvSpPr>
          <p:cNvPr name="TextBox 13" id="13"/>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4" id="14"/>
          <p:cNvSpPr txBox="true"/>
          <p:nvPr/>
        </p:nvSpPr>
        <p:spPr>
          <a:xfrm rot="0">
            <a:off x="381394" y="894607"/>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Étude Technique</a:t>
            </a:r>
          </a:p>
        </p:txBody>
      </p:sp>
      <p:sp>
        <p:nvSpPr>
          <p:cNvPr name="TextBox 15" id="15"/>
          <p:cNvSpPr txBox="true"/>
          <p:nvPr/>
        </p:nvSpPr>
        <p:spPr>
          <a:xfrm rot="0">
            <a:off x="1028700" y="2880276"/>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2. Outils de développement </a:t>
            </a:r>
          </a:p>
        </p:txBody>
      </p:sp>
      <p:sp>
        <p:nvSpPr>
          <p:cNvPr name="TextBox 16" id="16"/>
          <p:cNvSpPr txBox="true"/>
          <p:nvPr/>
        </p:nvSpPr>
        <p:spPr>
          <a:xfrm rot="0">
            <a:off x="4601913" y="3942214"/>
            <a:ext cx="11336192" cy="1198880"/>
          </a:xfrm>
          <a:prstGeom prst="rect">
            <a:avLst/>
          </a:prstGeom>
        </p:spPr>
        <p:txBody>
          <a:bodyPr anchor="t" rtlCol="false" tIns="0" lIns="0" bIns="0" rIns="0">
            <a:spAutoFit/>
          </a:bodyPr>
          <a:lstStyle/>
          <a:p>
            <a:pPr algn="just" marL="496569" indent="-248284" lvl="1">
              <a:lnSpc>
                <a:spcPts val="3219"/>
              </a:lnSpc>
              <a:buFont typeface="Arial"/>
              <a:buChar char="•"/>
            </a:pPr>
            <a:r>
              <a:rPr lang="en-US" b="true" sz="2299" spc="55">
                <a:solidFill>
                  <a:srgbClr val="0C1D4B"/>
                </a:solidFill>
                <a:latin typeface="Public Sans Bold"/>
                <a:ea typeface="Public Sans Bold"/>
                <a:cs typeface="Public Sans Bold"/>
                <a:sym typeface="Public Sans Bold"/>
              </a:rPr>
              <a:t>EMULATOR ANDROID : UN SIMULATEUR FOURNI AVEC ANDROID STUDIO PERMETTANT DE TESTER ET DÉBOGUER LES APPLICATIONS MOBILES FLUTTER SANS AVOIR BESOIN D’UN APPAREIL PHYSIQUE.</a:t>
            </a:r>
          </a:p>
        </p:txBody>
      </p:sp>
      <p:sp>
        <p:nvSpPr>
          <p:cNvPr name="TextBox 17" id="17"/>
          <p:cNvSpPr txBox="true"/>
          <p:nvPr/>
        </p:nvSpPr>
        <p:spPr>
          <a:xfrm rot="0">
            <a:off x="4601913" y="5873332"/>
            <a:ext cx="11336192" cy="1598930"/>
          </a:xfrm>
          <a:prstGeom prst="rect">
            <a:avLst/>
          </a:prstGeom>
        </p:spPr>
        <p:txBody>
          <a:bodyPr anchor="t" rtlCol="false" tIns="0" lIns="0" bIns="0" rIns="0">
            <a:spAutoFit/>
          </a:bodyPr>
          <a:lstStyle/>
          <a:p>
            <a:pPr algn="just" marL="496569" indent="-248284" lvl="1">
              <a:lnSpc>
                <a:spcPts val="3219"/>
              </a:lnSpc>
              <a:buFont typeface="Arial"/>
              <a:buChar char="•"/>
            </a:pPr>
            <a:r>
              <a:rPr lang="en-US" b="true" sz="2299" spc="55">
                <a:solidFill>
                  <a:srgbClr val="0C1D4B"/>
                </a:solidFill>
                <a:latin typeface="Public Sans Bold"/>
                <a:ea typeface="Public Sans Bold"/>
                <a:cs typeface="Public Sans Bold"/>
                <a:sym typeface="Public Sans Bold"/>
              </a:rPr>
              <a:t>INTEL</a:t>
            </a:r>
            <a:r>
              <a:rPr lang="en-US" b="true" sz="2299" spc="55">
                <a:solidFill>
                  <a:srgbClr val="0C1D4B"/>
                </a:solidFill>
                <a:latin typeface="Public Sans Bold"/>
                <a:ea typeface="Public Sans Bold"/>
                <a:cs typeface="Public Sans Bold"/>
                <a:sym typeface="Public Sans Bold"/>
              </a:rPr>
              <a:t>LIJ IDEA EST UN ENVIRONNEMENT DE DÉVELOPPEMENT INTÉGRÉ (IDE) PUISSANT UTILISÉ POUR DÉVELOPPER, TESTER ET GÉRER EFFICACEMENT LES APPLICATIONS JAVA ET LES MICROSERVICES SPRING BOOT.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166125" y="87181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2166125" y="2486379"/>
            <a:ext cx="4699789" cy="940195"/>
          </a:xfrm>
          <a:custGeom>
            <a:avLst/>
            <a:gdLst/>
            <a:ahLst/>
            <a:cxnLst/>
            <a:rect r="r" b="b" t="t" l="l"/>
            <a:pathLst>
              <a:path h="940195" w="4699789">
                <a:moveTo>
                  <a:pt x="0" y="0"/>
                </a:moveTo>
                <a:lnTo>
                  <a:pt x="4699789" y="0"/>
                </a:lnTo>
                <a:lnTo>
                  <a:pt x="4699789" y="940194"/>
                </a:lnTo>
                <a:lnTo>
                  <a:pt x="0" y="940194"/>
                </a:lnTo>
                <a:lnTo>
                  <a:pt x="0" y="0"/>
                </a:lnTo>
                <a:close/>
              </a:path>
            </a:pathLst>
          </a:custGeom>
          <a:blipFill>
            <a:blip r:embed="rId6">
              <a:alphaModFix amt="42000"/>
            </a:blip>
            <a:stretch>
              <a:fillRect l="0" t="-30604" r="0" b="-30604"/>
            </a:stretch>
          </a:blipFill>
        </p:spPr>
      </p:sp>
      <p:sp>
        <p:nvSpPr>
          <p:cNvPr name="Freeform 10" id="10"/>
          <p:cNvSpPr/>
          <p:nvPr/>
        </p:nvSpPr>
        <p:spPr>
          <a:xfrm flipH="false" flipV="false" rot="0">
            <a:off x="15938105" y="7749382"/>
            <a:ext cx="4699789" cy="940195"/>
          </a:xfrm>
          <a:custGeom>
            <a:avLst/>
            <a:gdLst/>
            <a:ahLst/>
            <a:cxnLst/>
            <a:rect r="r" b="b" t="t" l="l"/>
            <a:pathLst>
              <a:path h="940195" w="4699789">
                <a:moveTo>
                  <a:pt x="0" y="0"/>
                </a:moveTo>
                <a:lnTo>
                  <a:pt x="4699790" y="0"/>
                </a:lnTo>
                <a:lnTo>
                  <a:pt x="4699790" y="940195"/>
                </a:lnTo>
                <a:lnTo>
                  <a:pt x="0" y="940195"/>
                </a:lnTo>
                <a:lnTo>
                  <a:pt x="0" y="0"/>
                </a:lnTo>
                <a:close/>
              </a:path>
            </a:pathLst>
          </a:custGeom>
          <a:blipFill>
            <a:blip r:embed="rId6">
              <a:alphaModFix amt="42000"/>
            </a:blip>
            <a:stretch>
              <a:fillRect l="0" t="-30604" r="0" b="-30604"/>
            </a:stretch>
          </a:blipFill>
        </p:spPr>
      </p:sp>
      <p:sp>
        <p:nvSpPr>
          <p:cNvPr name="Freeform 11" id="11"/>
          <p:cNvSpPr/>
          <p:nvPr/>
        </p:nvSpPr>
        <p:spPr>
          <a:xfrm flipH="false" flipV="false" rot="0">
            <a:off x="1218824" y="4752248"/>
            <a:ext cx="2710731" cy="1807154"/>
          </a:xfrm>
          <a:custGeom>
            <a:avLst/>
            <a:gdLst/>
            <a:ahLst/>
            <a:cxnLst/>
            <a:rect r="r" b="b" t="t" l="l"/>
            <a:pathLst>
              <a:path h="1807154" w="2710731">
                <a:moveTo>
                  <a:pt x="0" y="0"/>
                </a:moveTo>
                <a:lnTo>
                  <a:pt x="2710731" y="0"/>
                </a:lnTo>
                <a:lnTo>
                  <a:pt x="2710731" y="1807154"/>
                </a:lnTo>
                <a:lnTo>
                  <a:pt x="0" y="1807154"/>
                </a:lnTo>
                <a:lnTo>
                  <a:pt x="0" y="0"/>
                </a:lnTo>
                <a:close/>
              </a:path>
            </a:pathLst>
          </a:custGeom>
          <a:blipFill>
            <a:blip r:embed="rId7"/>
            <a:stretch>
              <a:fillRect l="0" t="0" r="0" b="0"/>
            </a:stretch>
          </a:blipFill>
        </p:spPr>
      </p:sp>
      <p:sp>
        <p:nvSpPr>
          <p:cNvPr name="Freeform 12" id="12"/>
          <p:cNvSpPr/>
          <p:nvPr/>
        </p:nvSpPr>
        <p:spPr>
          <a:xfrm flipH="false" flipV="false" rot="0">
            <a:off x="462007" y="7099589"/>
            <a:ext cx="4224365" cy="1270408"/>
          </a:xfrm>
          <a:custGeom>
            <a:avLst/>
            <a:gdLst/>
            <a:ahLst/>
            <a:cxnLst/>
            <a:rect r="r" b="b" t="t" l="l"/>
            <a:pathLst>
              <a:path h="1270408" w="4224365">
                <a:moveTo>
                  <a:pt x="0" y="0"/>
                </a:moveTo>
                <a:lnTo>
                  <a:pt x="4224365" y="0"/>
                </a:lnTo>
                <a:lnTo>
                  <a:pt x="4224365" y="1270408"/>
                </a:lnTo>
                <a:lnTo>
                  <a:pt x="0" y="1270408"/>
                </a:lnTo>
                <a:lnTo>
                  <a:pt x="0" y="0"/>
                </a:lnTo>
                <a:close/>
              </a:path>
            </a:pathLst>
          </a:custGeom>
          <a:blipFill>
            <a:blip r:embed="rId8"/>
            <a:stretch>
              <a:fillRect l="0" t="0" r="0" b="0"/>
            </a:stretch>
          </a:blipFill>
        </p:spPr>
      </p:sp>
      <p:sp>
        <p:nvSpPr>
          <p:cNvPr name="TextBox 13" id="13"/>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4" id="14"/>
          <p:cNvSpPr txBox="true"/>
          <p:nvPr/>
        </p:nvSpPr>
        <p:spPr>
          <a:xfrm rot="0">
            <a:off x="381394" y="894607"/>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Étude Technique</a:t>
            </a:r>
          </a:p>
        </p:txBody>
      </p:sp>
      <p:sp>
        <p:nvSpPr>
          <p:cNvPr name="TextBox 15" id="15"/>
          <p:cNvSpPr txBox="true"/>
          <p:nvPr/>
        </p:nvSpPr>
        <p:spPr>
          <a:xfrm rot="0">
            <a:off x="1028700" y="2880276"/>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3. Technologies Utilisées</a:t>
            </a:r>
          </a:p>
        </p:txBody>
      </p:sp>
      <p:sp>
        <p:nvSpPr>
          <p:cNvPr name="TextBox 16" id="16"/>
          <p:cNvSpPr txBox="true"/>
          <p:nvPr/>
        </p:nvSpPr>
        <p:spPr>
          <a:xfrm rot="0">
            <a:off x="4686372" y="5218872"/>
            <a:ext cx="11336192" cy="1198880"/>
          </a:xfrm>
          <a:prstGeom prst="rect">
            <a:avLst/>
          </a:prstGeom>
        </p:spPr>
        <p:txBody>
          <a:bodyPr anchor="t" rtlCol="false" tIns="0" lIns="0" bIns="0" rIns="0">
            <a:spAutoFit/>
          </a:bodyPr>
          <a:lstStyle/>
          <a:p>
            <a:pPr algn="just" marL="496569" indent="-248284" lvl="1">
              <a:lnSpc>
                <a:spcPts val="3219"/>
              </a:lnSpc>
              <a:buFont typeface="Arial"/>
              <a:buChar char="•"/>
            </a:pPr>
            <a:r>
              <a:rPr lang="en-US" b="true" sz="2299" spc="55">
                <a:solidFill>
                  <a:srgbClr val="0C1D4B"/>
                </a:solidFill>
                <a:latin typeface="Public Sans Bold"/>
                <a:ea typeface="Public Sans Bold"/>
                <a:cs typeface="Public Sans Bold"/>
                <a:sym typeface="Public Sans Bold"/>
              </a:rPr>
              <a:t>SP</a:t>
            </a:r>
            <a:r>
              <a:rPr lang="en-US" b="true" sz="2299" spc="55">
                <a:solidFill>
                  <a:srgbClr val="0C1D4B"/>
                </a:solidFill>
                <a:latin typeface="Public Sans Bold"/>
                <a:ea typeface="Public Sans Bold"/>
                <a:cs typeface="Public Sans Bold"/>
                <a:sym typeface="Public Sans Bold"/>
              </a:rPr>
              <a:t>RING BOOT EST UN FRAMEWORK JAVA UTILISÉ POUR DÉVELOPPER DES APPLICATIONS BACK-END ROBUSTES, SÉCURISÉES ET BASÉES SUR DES MICROSERVICES.</a:t>
            </a:r>
          </a:p>
        </p:txBody>
      </p:sp>
      <p:sp>
        <p:nvSpPr>
          <p:cNvPr name="TextBox 17" id="17"/>
          <p:cNvSpPr txBox="true"/>
          <p:nvPr/>
        </p:nvSpPr>
        <p:spPr>
          <a:xfrm rot="0">
            <a:off x="4601913" y="7090646"/>
            <a:ext cx="11336192" cy="1598930"/>
          </a:xfrm>
          <a:prstGeom prst="rect">
            <a:avLst/>
          </a:prstGeom>
        </p:spPr>
        <p:txBody>
          <a:bodyPr anchor="t" rtlCol="false" tIns="0" lIns="0" bIns="0" rIns="0">
            <a:spAutoFit/>
          </a:bodyPr>
          <a:lstStyle/>
          <a:p>
            <a:pPr algn="just" marL="496569" indent="-248284" lvl="1">
              <a:lnSpc>
                <a:spcPts val="3219"/>
              </a:lnSpc>
              <a:buFont typeface="Arial"/>
              <a:buChar char="•"/>
            </a:pPr>
            <a:r>
              <a:rPr lang="en-US" b="true" sz="2299" spc="55">
                <a:solidFill>
                  <a:srgbClr val="0C1D4B"/>
                </a:solidFill>
                <a:latin typeface="Public Sans Bold"/>
                <a:ea typeface="Public Sans Bold"/>
                <a:cs typeface="Public Sans Bold"/>
                <a:sym typeface="Public Sans Bold"/>
              </a:rPr>
              <a:t>ANGULAR</a:t>
            </a:r>
            <a:r>
              <a:rPr lang="en-US" b="true" sz="2299" spc="55">
                <a:solidFill>
                  <a:srgbClr val="0C1D4B"/>
                </a:solidFill>
                <a:latin typeface="Public Sans Bold"/>
                <a:ea typeface="Public Sans Bold"/>
                <a:cs typeface="Public Sans Bold"/>
                <a:sym typeface="Public Sans Bold"/>
              </a:rPr>
              <a:t> EST UN FRAMEWORK FRONT-END PERMETTANT DE CRÉER DES INTERFACES WEB DYNAMIQUES, INTERACTIVES ET BIEN STRUCTURÉES.</a:t>
            </a:r>
          </a:p>
          <a:p>
            <a:pPr algn="just">
              <a:lnSpc>
                <a:spcPts val="3219"/>
              </a:lnSpc>
            </a:pPr>
          </a:p>
        </p:txBody>
      </p:sp>
      <p:sp>
        <p:nvSpPr>
          <p:cNvPr name="TextBox 18" id="18"/>
          <p:cNvSpPr txBox="true"/>
          <p:nvPr/>
        </p:nvSpPr>
        <p:spPr>
          <a:xfrm rot="0">
            <a:off x="1734126" y="3797793"/>
            <a:ext cx="7146427" cy="505101"/>
          </a:xfrm>
          <a:prstGeom prst="rect">
            <a:avLst/>
          </a:prstGeom>
        </p:spPr>
        <p:txBody>
          <a:bodyPr anchor="t" rtlCol="false" tIns="0" lIns="0" bIns="0" rIns="0">
            <a:spAutoFit/>
          </a:bodyPr>
          <a:lstStyle/>
          <a:p>
            <a:pPr algn="l">
              <a:lnSpc>
                <a:spcPts val="4184"/>
              </a:lnSpc>
              <a:spcBef>
                <a:spcPct val="0"/>
              </a:spcBef>
            </a:pPr>
            <a:r>
              <a:rPr lang="en-US" b="true" sz="2989">
                <a:solidFill>
                  <a:srgbClr val="0C1D4B"/>
                </a:solidFill>
                <a:latin typeface="Montserrat Bold"/>
                <a:ea typeface="Montserrat Bold"/>
                <a:cs typeface="Montserrat Bold"/>
                <a:sym typeface="Montserrat Bold"/>
              </a:rPr>
              <a:t>a.Version Web</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166125" y="87181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2166125" y="2486379"/>
            <a:ext cx="4699789" cy="940195"/>
          </a:xfrm>
          <a:custGeom>
            <a:avLst/>
            <a:gdLst/>
            <a:ahLst/>
            <a:cxnLst/>
            <a:rect r="r" b="b" t="t" l="l"/>
            <a:pathLst>
              <a:path h="940195" w="4699789">
                <a:moveTo>
                  <a:pt x="0" y="0"/>
                </a:moveTo>
                <a:lnTo>
                  <a:pt x="4699789" y="0"/>
                </a:lnTo>
                <a:lnTo>
                  <a:pt x="4699789" y="940194"/>
                </a:lnTo>
                <a:lnTo>
                  <a:pt x="0" y="940194"/>
                </a:lnTo>
                <a:lnTo>
                  <a:pt x="0" y="0"/>
                </a:lnTo>
                <a:close/>
              </a:path>
            </a:pathLst>
          </a:custGeom>
          <a:blipFill>
            <a:blip r:embed="rId6">
              <a:alphaModFix amt="42000"/>
            </a:blip>
            <a:stretch>
              <a:fillRect l="0" t="-30604" r="0" b="-30604"/>
            </a:stretch>
          </a:blipFill>
        </p:spPr>
      </p:sp>
      <p:sp>
        <p:nvSpPr>
          <p:cNvPr name="Freeform 10" id="10"/>
          <p:cNvSpPr/>
          <p:nvPr/>
        </p:nvSpPr>
        <p:spPr>
          <a:xfrm flipH="false" flipV="false" rot="0">
            <a:off x="15938105" y="7749382"/>
            <a:ext cx="4699789" cy="940195"/>
          </a:xfrm>
          <a:custGeom>
            <a:avLst/>
            <a:gdLst/>
            <a:ahLst/>
            <a:cxnLst/>
            <a:rect r="r" b="b" t="t" l="l"/>
            <a:pathLst>
              <a:path h="940195" w="4699789">
                <a:moveTo>
                  <a:pt x="0" y="0"/>
                </a:moveTo>
                <a:lnTo>
                  <a:pt x="4699790" y="0"/>
                </a:lnTo>
                <a:lnTo>
                  <a:pt x="4699790" y="940195"/>
                </a:lnTo>
                <a:lnTo>
                  <a:pt x="0" y="940195"/>
                </a:lnTo>
                <a:lnTo>
                  <a:pt x="0" y="0"/>
                </a:lnTo>
                <a:close/>
              </a:path>
            </a:pathLst>
          </a:custGeom>
          <a:blipFill>
            <a:blip r:embed="rId6">
              <a:alphaModFix amt="42000"/>
            </a:blip>
            <a:stretch>
              <a:fillRect l="0" t="-30604" r="0" b="-30604"/>
            </a:stretch>
          </a:blipFill>
        </p:spPr>
      </p:sp>
      <p:sp>
        <p:nvSpPr>
          <p:cNvPr name="Freeform 11" id="11"/>
          <p:cNvSpPr/>
          <p:nvPr/>
        </p:nvSpPr>
        <p:spPr>
          <a:xfrm flipH="false" flipV="false" rot="0">
            <a:off x="674726" y="4374207"/>
            <a:ext cx="2986549" cy="1991033"/>
          </a:xfrm>
          <a:custGeom>
            <a:avLst/>
            <a:gdLst/>
            <a:ahLst/>
            <a:cxnLst/>
            <a:rect r="r" b="b" t="t" l="l"/>
            <a:pathLst>
              <a:path h="1991033" w="2986549">
                <a:moveTo>
                  <a:pt x="0" y="0"/>
                </a:moveTo>
                <a:lnTo>
                  <a:pt x="2986549" y="0"/>
                </a:lnTo>
                <a:lnTo>
                  <a:pt x="2986549" y="1991033"/>
                </a:lnTo>
                <a:lnTo>
                  <a:pt x="0" y="1991033"/>
                </a:lnTo>
                <a:lnTo>
                  <a:pt x="0" y="0"/>
                </a:lnTo>
                <a:close/>
              </a:path>
            </a:pathLst>
          </a:custGeom>
          <a:blipFill>
            <a:blip r:embed="rId7"/>
            <a:stretch>
              <a:fillRect l="0" t="0" r="0" b="0"/>
            </a:stretch>
          </a:blipFill>
        </p:spPr>
      </p:sp>
      <p:sp>
        <p:nvSpPr>
          <p:cNvPr name="Freeform 12" id="12"/>
          <p:cNvSpPr/>
          <p:nvPr/>
        </p:nvSpPr>
        <p:spPr>
          <a:xfrm flipH="false" flipV="false" rot="0">
            <a:off x="381394" y="6588953"/>
            <a:ext cx="3573213" cy="1758006"/>
          </a:xfrm>
          <a:custGeom>
            <a:avLst/>
            <a:gdLst/>
            <a:ahLst/>
            <a:cxnLst/>
            <a:rect r="r" b="b" t="t" l="l"/>
            <a:pathLst>
              <a:path h="1758006" w="3573213">
                <a:moveTo>
                  <a:pt x="0" y="0"/>
                </a:moveTo>
                <a:lnTo>
                  <a:pt x="3573213" y="0"/>
                </a:lnTo>
                <a:lnTo>
                  <a:pt x="3573213" y="1758006"/>
                </a:lnTo>
                <a:lnTo>
                  <a:pt x="0" y="1758006"/>
                </a:lnTo>
                <a:lnTo>
                  <a:pt x="0" y="0"/>
                </a:lnTo>
                <a:close/>
              </a:path>
            </a:pathLst>
          </a:custGeom>
          <a:blipFill>
            <a:blip r:embed="rId8"/>
            <a:stretch>
              <a:fillRect l="0" t="0" r="0" b="0"/>
            </a:stretch>
          </a:blipFill>
        </p:spPr>
      </p:sp>
      <p:sp>
        <p:nvSpPr>
          <p:cNvPr name="TextBox 13" id="13"/>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4" id="14"/>
          <p:cNvSpPr txBox="true"/>
          <p:nvPr/>
        </p:nvSpPr>
        <p:spPr>
          <a:xfrm rot="0">
            <a:off x="381394" y="894607"/>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Étude Technique</a:t>
            </a:r>
          </a:p>
        </p:txBody>
      </p:sp>
      <p:sp>
        <p:nvSpPr>
          <p:cNvPr name="TextBox 15" id="15"/>
          <p:cNvSpPr txBox="true"/>
          <p:nvPr/>
        </p:nvSpPr>
        <p:spPr>
          <a:xfrm rot="0">
            <a:off x="1028700" y="2880276"/>
            <a:ext cx="7146427"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3. Technologies Utilisées</a:t>
            </a:r>
          </a:p>
        </p:txBody>
      </p:sp>
      <p:sp>
        <p:nvSpPr>
          <p:cNvPr name="TextBox 16" id="16"/>
          <p:cNvSpPr txBox="true"/>
          <p:nvPr/>
        </p:nvSpPr>
        <p:spPr>
          <a:xfrm rot="0">
            <a:off x="1581726" y="3645393"/>
            <a:ext cx="7146427" cy="505101"/>
          </a:xfrm>
          <a:prstGeom prst="rect">
            <a:avLst/>
          </a:prstGeom>
        </p:spPr>
        <p:txBody>
          <a:bodyPr anchor="t" rtlCol="false" tIns="0" lIns="0" bIns="0" rIns="0">
            <a:spAutoFit/>
          </a:bodyPr>
          <a:lstStyle/>
          <a:p>
            <a:pPr algn="l">
              <a:lnSpc>
                <a:spcPts val="4184"/>
              </a:lnSpc>
              <a:spcBef>
                <a:spcPct val="0"/>
              </a:spcBef>
            </a:pPr>
            <a:r>
              <a:rPr lang="en-US" b="true" sz="2989">
                <a:solidFill>
                  <a:srgbClr val="0C1D4B"/>
                </a:solidFill>
                <a:latin typeface="Montserrat Bold"/>
                <a:ea typeface="Montserrat Bold"/>
                <a:cs typeface="Montserrat Bold"/>
                <a:sym typeface="Montserrat Bold"/>
              </a:rPr>
              <a:t>a.Version Mobile</a:t>
            </a:r>
          </a:p>
        </p:txBody>
      </p:sp>
      <p:sp>
        <p:nvSpPr>
          <p:cNvPr name="TextBox 17" id="17"/>
          <p:cNvSpPr txBox="true"/>
          <p:nvPr/>
        </p:nvSpPr>
        <p:spPr>
          <a:xfrm rot="0">
            <a:off x="4601913" y="4856614"/>
            <a:ext cx="11336192" cy="1198880"/>
          </a:xfrm>
          <a:prstGeom prst="rect">
            <a:avLst/>
          </a:prstGeom>
        </p:spPr>
        <p:txBody>
          <a:bodyPr anchor="t" rtlCol="false" tIns="0" lIns="0" bIns="0" rIns="0">
            <a:spAutoFit/>
          </a:bodyPr>
          <a:lstStyle/>
          <a:p>
            <a:pPr algn="just" marL="496569" indent="-248284" lvl="1">
              <a:lnSpc>
                <a:spcPts val="3219"/>
              </a:lnSpc>
              <a:buFont typeface="Arial"/>
              <a:buChar char="•"/>
            </a:pPr>
            <a:r>
              <a:rPr lang="en-US" b="true" sz="2299" spc="55">
                <a:solidFill>
                  <a:srgbClr val="0C1D4B"/>
                </a:solidFill>
                <a:latin typeface="Public Sans Bold"/>
                <a:ea typeface="Public Sans Bold"/>
                <a:cs typeface="Public Sans Bold"/>
                <a:sym typeface="Public Sans Bold"/>
              </a:rPr>
              <a:t>SP</a:t>
            </a:r>
            <a:r>
              <a:rPr lang="en-US" b="true" sz="2299" spc="55">
                <a:solidFill>
                  <a:srgbClr val="0C1D4B"/>
                </a:solidFill>
                <a:latin typeface="Public Sans Bold"/>
                <a:ea typeface="Public Sans Bold"/>
                <a:cs typeface="Public Sans Bold"/>
                <a:sym typeface="Public Sans Bold"/>
              </a:rPr>
              <a:t>RING BOOT EST UN FRAMEWORK JAVA UTILISÉ POUR DÉVELOPPER DES APPLICATIONS BACK-END ROBUSTES, SÉCURISÉES ET BASÉES SUR DES MICROSERVICES.</a:t>
            </a:r>
          </a:p>
        </p:txBody>
      </p:sp>
      <p:sp>
        <p:nvSpPr>
          <p:cNvPr name="TextBox 18" id="18"/>
          <p:cNvSpPr txBox="true"/>
          <p:nvPr/>
        </p:nvSpPr>
        <p:spPr>
          <a:xfrm rot="0">
            <a:off x="4601913" y="6760344"/>
            <a:ext cx="11336192" cy="1598930"/>
          </a:xfrm>
          <a:prstGeom prst="rect">
            <a:avLst/>
          </a:prstGeom>
        </p:spPr>
        <p:txBody>
          <a:bodyPr anchor="t" rtlCol="false" tIns="0" lIns="0" bIns="0" rIns="0">
            <a:spAutoFit/>
          </a:bodyPr>
          <a:lstStyle/>
          <a:p>
            <a:pPr algn="just" marL="496569" indent="-248284" lvl="1">
              <a:lnSpc>
                <a:spcPts val="3219"/>
              </a:lnSpc>
              <a:buFont typeface="Arial"/>
              <a:buChar char="•"/>
            </a:pPr>
            <a:r>
              <a:rPr lang="en-US" b="true" sz="2299" spc="55">
                <a:solidFill>
                  <a:srgbClr val="0C1D4B"/>
                </a:solidFill>
                <a:latin typeface="Public Sans Bold"/>
                <a:ea typeface="Public Sans Bold"/>
                <a:cs typeface="Public Sans Bold"/>
                <a:sym typeface="Public Sans Bold"/>
              </a:rPr>
              <a:t>FLU</a:t>
            </a:r>
            <a:r>
              <a:rPr lang="en-US" b="true" sz="2299" spc="55">
                <a:solidFill>
                  <a:srgbClr val="0C1D4B"/>
                </a:solidFill>
                <a:latin typeface="Public Sans Bold"/>
                <a:ea typeface="Public Sans Bold"/>
                <a:cs typeface="Public Sans Bold"/>
                <a:sym typeface="Public Sans Bold"/>
              </a:rPr>
              <a:t>TTER EST UN FRAMEWORK DÉVELOPPÉ PAR GOOGLE PERMETTANT DE CRÉER DES APPLICATIONS MOBILES PERFORMANTES ET MULTIPLATEFORMES (ANDROID ET IOS) À PARTIR D’UN SEUL CODE SOURCE.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166125" y="87181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2166125" y="2486379"/>
            <a:ext cx="4699789" cy="940195"/>
          </a:xfrm>
          <a:custGeom>
            <a:avLst/>
            <a:gdLst/>
            <a:ahLst/>
            <a:cxnLst/>
            <a:rect r="r" b="b" t="t" l="l"/>
            <a:pathLst>
              <a:path h="940195" w="4699789">
                <a:moveTo>
                  <a:pt x="0" y="0"/>
                </a:moveTo>
                <a:lnTo>
                  <a:pt x="4699789" y="0"/>
                </a:lnTo>
                <a:lnTo>
                  <a:pt x="4699789" y="940194"/>
                </a:lnTo>
                <a:lnTo>
                  <a:pt x="0" y="940194"/>
                </a:lnTo>
                <a:lnTo>
                  <a:pt x="0" y="0"/>
                </a:lnTo>
                <a:close/>
              </a:path>
            </a:pathLst>
          </a:custGeom>
          <a:blipFill>
            <a:blip r:embed="rId6">
              <a:alphaModFix amt="42000"/>
            </a:blip>
            <a:stretch>
              <a:fillRect l="0" t="-30604" r="0" b="-30604"/>
            </a:stretch>
          </a:blipFill>
        </p:spPr>
      </p:sp>
      <p:sp>
        <p:nvSpPr>
          <p:cNvPr name="Freeform 10" id="10"/>
          <p:cNvSpPr/>
          <p:nvPr/>
        </p:nvSpPr>
        <p:spPr>
          <a:xfrm flipH="false" flipV="false" rot="0">
            <a:off x="15938105" y="7749382"/>
            <a:ext cx="4699789" cy="940195"/>
          </a:xfrm>
          <a:custGeom>
            <a:avLst/>
            <a:gdLst/>
            <a:ahLst/>
            <a:cxnLst/>
            <a:rect r="r" b="b" t="t" l="l"/>
            <a:pathLst>
              <a:path h="940195" w="4699789">
                <a:moveTo>
                  <a:pt x="0" y="0"/>
                </a:moveTo>
                <a:lnTo>
                  <a:pt x="4699790" y="0"/>
                </a:lnTo>
                <a:lnTo>
                  <a:pt x="4699790" y="940195"/>
                </a:lnTo>
                <a:lnTo>
                  <a:pt x="0" y="940195"/>
                </a:lnTo>
                <a:lnTo>
                  <a:pt x="0" y="0"/>
                </a:lnTo>
                <a:close/>
              </a:path>
            </a:pathLst>
          </a:custGeom>
          <a:blipFill>
            <a:blip r:embed="rId6">
              <a:alphaModFix amt="42000"/>
            </a:blip>
            <a:stretch>
              <a:fillRect l="0" t="-30604" r="0" b="-30604"/>
            </a:stretch>
          </a:blipFill>
        </p:spPr>
      </p:sp>
      <p:sp>
        <p:nvSpPr>
          <p:cNvPr name="Freeform 11" id="11"/>
          <p:cNvSpPr/>
          <p:nvPr/>
        </p:nvSpPr>
        <p:spPr>
          <a:xfrm flipH="false" flipV="false" rot="0">
            <a:off x="-117813" y="3715450"/>
            <a:ext cx="4719727" cy="1749445"/>
          </a:xfrm>
          <a:custGeom>
            <a:avLst/>
            <a:gdLst/>
            <a:ahLst/>
            <a:cxnLst/>
            <a:rect r="r" b="b" t="t" l="l"/>
            <a:pathLst>
              <a:path h="1749445" w="4719727">
                <a:moveTo>
                  <a:pt x="0" y="0"/>
                </a:moveTo>
                <a:lnTo>
                  <a:pt x="4719726" y="0"/>
                </a:lnTo>
                <a:lnTo>
                  <a:pt x="4719726" y="1749445"/>
                </a:lnTo>
                <a:lnTo>
                  <a:pt x="0" y="1749445"/>
                </a:lnTo>
                <a:lnTo>
                  <a:pt x="0" y="0"/>
                </a:lnTo>
                <a:close/>
              </a:path>
            </a:pathLst>
          </a:custGeom>
          <a:blipFill>
            <a:blip r:embed="rId7"/>
            <a:stretch>
              <a:fillRect l="0" t="0" r="0" b="0"/>
            </a:stretch>
          </a:blipFill>
        </p:spPr>
      </p:sp>
      <p:sp>
        <p:nvSpPr>
          <p:cNvPr name="Freeform 12" id="12"/>
          <p:cNvSpPr/>
          <p:nvPr/>
        </p:nvSpPr>
        <p:spPr>
          <a:xfrm flipH="false" flipV="false" rot="0">
            <a:off x="0" y="5798270"/>
            <a:ext cx="4601913" cy="1835595"/>
          </a:xfrm>
          <a:custGeom>
            <a:avLst/>
            <a:gdLst/>
            <a:ahLst/>
            <a:cxnLst/>
            <a:rect r="r" b="b" t="t" l="l"/>
            <a:pathLst>
              <a:path h="1835595" w="4601913">
                <a:moveTo>
                  <a:pt x="0" y="0"/>
                </a:moveTo>
                <a:lnTo>
                  <a:pt x="4601913" y="0"/>
                </a:lnTo>
                <a:lnTo>
                  <a:pt x="4601913" y="1835595"/>
                </a:lnTo>
                <a:lnTo>
                  <a:pt x="0" y="1835595"/>
                </a:lnTo>
                <a:lnTo>
                  <a:pt x="0" y="0"/>
                </a:lnTo>
                <a:close/>
              </a:path>
            </a:pathLst>
          </a:custGeom>
          <a:blipFill>
            <a:blip r:embed="rId8"/>
            <a:stretch>
              <a:fillRect l="0" t="0" r="0" b="0"/>
            </a:stretch>
          </a:blipFill>
        </p:spPr>
      </p:sp>
      <p:sp>
        <p:nvSpPr>
          <p:cNvPr name="TextBox 13" id="13"/>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4" id="14"/>
          <p:cNvSpPr txBox="true"/>
          <p:nvPr/>
        </p:nvSpPr>
        <p:spPr>
          <a:xfrm rot="0">
            <a:off x="381394" y="894607"/>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Étude Technique</a:t>
            </a:r>
          </a:p>
        </p:txBody>
      </p:sp>
      <p:sp>
        <p:nvSpPr>
          <p:cNvPr name="TextBox 15" id="15"/>
          <p:cNvSpPr txBox="true"/>
          <p:nvPr/>
        </p:nvSpPr>
        <p:spPr>
          <a:xfrm rot="0">
            <a:off x="1028700" y="2880276"/>
            <a:ext cx="10208632"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4. Outils de collaboration et de gestion </a:t>
            </a:r>
          </a:p>
        </p:txBody>
      </p:sp>
      <p:sp>
        <p:nvSpPr>
          <p:cNvPr name="TextBox 16" id="16"/>
          <p:cNvSpPr txBox="true"/>
          <p:nvPr/>
        </p:nvSpPr>
        <p:spPr>
          <a:xfrm rot="0">
            <a:off x="4601913" y="3942214"/>
            <a:ext cx="11336192" cy="1198880"/>
          </a:xfrm>
          <a:prstGeom prst="rect">
            <a:avLst/>
          </a:prstGeom>
        </p:spPr>
        <p:txBody>
          <a:bodyPr anchor="t" rtlCol="false" tIns="0" lIns="0" bIns="0" rIns="0">
            <a:spAutoFit/>
          </a:bodyPr>
          <a:lstStyle/>
          <a:p>
            <a:pPr algn="just" marL="496569" indent="-248284" lvl="1">
              <a:lnSpc>
                <a:spcPts val="3219"/>
              </a:lnSpc>
              <a:buFont typeface="Arial"/>
              <a:buChar char="•"/>
            </a:pPr>
            <a:r>
              <a:rPr lang="en-US" b="true" sz="2299" spc="55">
                <a:solidFill>
                  <a:srgbClr val="0C1D4B"/>
                </a:solidFill>
                <a:latin typeface="Public Sans Bold"/>
                <a:ea typeface="Public Sans Bold"/>
                <a:cs typeface="Public Sans Bold"/>
                <a:sym typeface="Public Sans Bold"/>
              </a:rPr>
              <a:t>G</a:t>
            </a:r>
            <a:r>
              <a:rPr lang="en-US" b="true" sz="2299" spc="55">
                <a:solidFill>
                  <a:srgbClr val="0C1D4B"/>
                </a:solidFill>
                <a:latin typeface="Public Sans Bold"/>
                <a:ea typeface="Public Sans Bold"/>
                <a:cs typeface="Public Sans Bold"/>
                <a:sym typeface="Public Sans Bold"/>
              </a:rPr>
              <a:t>ITHUB : UNE PLATEFORME DE GESTION DE VERSIONS QUI PERMET DE STOCKER, COLLABORER ET SUIVRE LES ÉVOLUTIONS DU CODE SOURCE DU PROJET. </a:t>
            </a:r>
          </a:p>
        </p:txBody>
      </p:sp>
      <p:sp>
        <p:nvSpPr>
          <p:cNvPr name="TextBox 17" id="17"/>
          <p:cNvSpPr txBox="true"/>
          <p:nvPr/>
        </p:nvSpPr>
        <p:spPr>
          <a:xfrm rot="0">
            <a:off x="4601913" y="6151995"/>
            <a:ext cx="11336192" cy="1198880"/>
          </a:xfrm>
          <a:prstGeom prst="rect">
            <a:avLst/>
          </a:prstGeom>
        </p:spPr>
        <p:txBody>
          <a:bodyPr anchor="t" rtlCol="false" tIns="0" lIns="0" bIns="0" rIns="0">
            <a:spAutoFit/>
          </a:bodyPr>
          <a:lstStyle/>
          <a:p>
            <a:pPr algn="just" marL="496569" indent="-248284" lvl="1">
              <a:lnSpc>
                <a:spcPts val="3219"/>
              </a:lnSpc>
              <a:buFont typeface="Arial"/>
              <a:buChar char="•"/>
            </a:pPr>
            <a:r>
              <a:rPr lang="en-US" b="true" sz="2299" spc="55">
                <a:solidFill>
                  <a:srgbClr val="0C1D4B"/>
                </a:solidFill>
                <a:latin typeface="Public Sans Bold"/>
                <a:ea typeface="Public Sans Bold"/>
                <a:cs typeface="Public Sans Bold"/>
                <a:sym typeface="Public Sans Bold"/>
              </a:rPr>
              <a:t>POSTMAN</a:t>
            </a:r>
            <a:r>
              <a:rPr lang="en-US" b="true" sz="2299" spc="55">
                <a:solidFill>
                  <a:srgbClr val="0C1D4B"/>
                </a:solidFill>
                <a:latin typeface="Public Sans Bold"/>
                <a:ea typeface="Public Sans Bold"/>
                <a:cs typeface="Public Sans Bold"/>
                <a:sym typeface="Public Sans Bold"/>
              </a:rPr>
              <a:t> : UN OUTIL PERMETTANT DE TESTER ET D’INTERAGIR AVEC LES API REST, FACILITANT AINSI LE DÉVELOPPEMENT ET LE DÉBOGAGE DES SERVICES BACKEND.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166125" y="87181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2166125" y="2486379"/>
            <a:ext cx="4699789" cy="940195"/>
          </a:xfrm>
          <a:custGeom>
            <a:avLst/>
            <a:gdLst/>
            <a:ahLst/>
            <a:cxnLst/>
            <a:rect r="r" b="b" t="t" l="l"/>
            <a:pathLst>
              <a:path h="940195" w="4699789">
                <a:moveTo>
                  <a:pt x="0" y="0"/>
                </a:moveTo>
                <a:lnTo>
                  <a:pt x="4699789" y="0"/>
                </a:lnTo>
                <a:lnTo>
                  <a:pt x="4699789" y="940194"/>
                </a:lnTo>
                <a:lnTo>
                  <a:pt x="0" y="940194"/>
                </a:lnTo>
                <a:lnTo>
                  <a:pt x="0" y="0"/>
                </a:lnTo>
                <a:close/>
              </a:path>
            </a:pathLst>
          </a:custGeom>
          <a:blipFill>
            <a:blip r:embed="rId6">
              <a:alphaModFix amt="42000"/>
            </a:blip>
            <a:stretch>
              <a:fillRect l="0" t="-30604" r="0" b="-30604"/>
            </a:stretch>
          </a:blipFill>
        </p:spPr>
      </p:sp>
      <p:sp>
        <p:nvSpPr>
          <p:cNvPr name="Freeform 10" id="10"/>
          <p:cNvSpPr/>
          <p:nvPr/>
        </p:nvSpPr>
        <p:spPr>
          <a:xfrm flipH="false" flipV="false" rot="0">
            <a:off x="15938105" y="7749382"/>
            <a:ext cx="4699789" cy="940195"/>
          </a:xfrm>
          <a:custGeom>
            <a:avLst/>
            <a:gdLst/>
            <a:ahLst/>
            <a:cxnLst/>
            <a:rect r="r" b="b" t="t" l="l"/>
            <a:pathLst>
              <a:path h="940195" w="4699789">
                <a:moveTo>
                  <a:pt x="0" y="0"/>
                </a:moveTo>
                <a:lnTo>
                  <a:pt x="4699790" y="0"/>
                </a:lnTo>
                <a:lnTo>
                  <a:pt x="4699790" y="940195"/>
                </a:lnTo>
                <a:lnTo>
                  <a:pt x="0" y="940195"/>
                </a:lnTo>
                <a:lnTo>
                  <a:pt x="0" y="0"/>
                </a:lnTo>
                <a:close/>
              </a:path>
            </a:pathLst>
          </a:custGeom>
          <a:blipFill>
            <a:blip r:embed="rId6">
              <a:alphaModFix amt="42000"/>
            </a:blip>
            <a:stretch>
              <a:fillRect l="0" t="-30604" r="0" b="-30604"/>
            </a:stretch>
          </a:blipFill>
        </p:spPr>
      </p:sp>
      <p:sp>
        <p:nvSpPr>
          <p:cNvPr name="Freeform 11" id="11"/>
          <p:cNvSpPr/>
          <p:nvPr/>
        </p:nvSpPr>
        <p:spPr>
          <a:xfrm flipH="false" flipV="false" rot="0">
            <a:off x="381394" y="4308595"/>
            <a:ext cx="4393807" cy="2694460"/>
          </a:xfrm>
          <a:custGeom>
            <a:avLst/>
            <a:gdLst/>
            <a:ahLst/>
            <a:cxnLst/>
            <a:rect r="r" b="b" t="t" l="l"/>
            <a:pathLst>
              <a:path h="2694460" w="4393807">
                <a:moveTo>
                  <a:pt x="0" y="0"/>
                </a:moveTo>
                <a:lnTo>
                  <a:pt x="4393807" y="0"/>
                </a:lnTo>
                <a:lnTo>
                  <a:pt x="4393807" y="2694460"/>
                </a:lnTo>
                <a:lnTo>
                  <a:pt x="0" y="2694460"/>
                </a:lnTo>
                <a:lnTo>
                  <a:pt x="0" y="0"/>
                </a:lnTo>
                <a:close/>
              </a:path>
            </a:pathLst>
          </a:custGeom>
          <a:blipFill>
            <a:blip r:embed="rId7"/>
            <a:stretch>
              <a:fillRect l="0" t="0" r="0" b="0"/>
            </a:stretch>
          </a:blipFill>
        </p:spPr>
      </p:sp>
      <p:sp>
        <p:nvSpPr>
          <p:cNvPr name="TextBox 12" id="12"/>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3" id="13"/>
          <p:cNvSpPr txBox="true"/>
          <p:nvPr/>
        </p:nvSpPr>
        <p:spPr>
          <a:xfrm rot="0">
            <a:off x="381394" y="894607"/>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Étude Technique</a:t>
            </a:r>
          </a:p>
        </p:txBody>
      </p:sp>
      <p:sp>
        <p:nvSpPr>
          <p:cNvPr name="TextBox 14" id="14"/>
          <p:cNvSpPr txBox="true"/>
          <p:nvPr/>
        </p:nvSpPr>
        <p:spPr>
          <a:xfrm rot="0">
            <a:off x="1028700" y="2880276"/>
            <a:ext cx="10208632"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5. Base de données</a:t>
            </a:r>
          </a:p>
        </p:txBody>
      </p:sp>
      <p:sp>
        <p:nvSpPr>
          <p:cNvPr name="TextBox 15" id="15"/>
          <p:cNvSpPr txBox="true"/>
          <p:nvPr/>
        </p:nvSpPr>
        <p:spPr>
          <a:xfrm rot="0">
            <a:off x="5247847" y="5086350"/>
            <a:ext cx="11336192" cy="1598930"/>
          </a:xfrm>
          <a:prstGeom prst="rect">
            <a:avLst/>
          </a:prstGeom>
        </p:spPr>
        <p:txBody>
          <a:bodyPr anchor="t" rtlCol="false" tIns="0" lIns="0" bIns="0" rIns="0">
            <a:spAutoFit/>
          </a:bodyPr>
          <a:lstStyle/>
          <a:p>
            <a:pPr algn="just" marL="496569" indent="-248284" lvl="1">
              <a:lnSpc>
                <a:spcPts val="3219"/>
              </a:lnSpc>
              <a:buFont typeface="Arial"/>
              <a:buChar char="•"/>
            </a:pPr>
            <a:r>
              <a:rPr lang="en-US" b="true" sz="2299" spc="55">
                <a:solidFill>
                  <a:srgbClr val="0C1D4B"/>
                </a:solidFill>
                <a:latin typeface="Public Sans Bold"/>
                <a:ea typeface="Public Sans Bold"/>
                <a:cs typeface="Public Sans Bold"/>
                <a:sym typeface="Public Sans Bold"/>
              </a:rPr>
              <a:t>MARIADB EST</a:t>
            </a:r>
            <a:r>
              <a:rPr lang="en-US" b="true" sz="2299" spc="55">
                <a:solidFill>
                  <a:srgbClr val="0C1D4B"/>
                </a:solidFill>
                <a:latin typeface="Public Sans Bold"/>
                <a:ea typeface="Public Sans Bold"/>
                <a:cs typeface="Public Sans Bold"/>
                <a:sym typeface="Public Sans Bold"/>
              </a:rPr>
              <a:t> UN SYSTÈME DE GESTION DE BASE DE DONNÉES RELATIONNELLE (SGBDR) OPEN SOURCE, PERFORMANT ET FIABLE, UTILISÉ POUR STOCKER DE MANIÈRE SÉCURISÉE ET STRUCTURÉE LES DONNÉES DE L’APPLICATION.</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952A2A"/>
        </a:solidFill>
      </p:bgPr>
    </p:bg>
    <p:spTree>
      <p:nvGrpSpPr>
        <p:cNvPr id="1" name=""/>
        <p:cNvGrpSpPr/>
        <p:nvPr/>
      </p:nvGrpSpPr>
      <p:grpSpPr>
        <a:xfrm>
          <a:off x="0" y="0"/>
          <a:ext cx="0" cy="0"/>
          <a:chOff x="0" y="0"/>
          <a:chExt cx="0" cy="0"/>
        </a:xfrm>
      </p:grpSpPr>
      <p:sp>
        <p:nvSpPr>
          <p:cNvPr name="TextBox 2" id="2"/>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3" id="3"/>
          <p:cNvSpPr txBox="true"/>
          <p:nvPr/>
        </p:nvSpPr>
        <p:spPr>
          <a:xfrm rot="0">
            <a:off x="5750066" y="4186057"/>
            <a:ext cx="6787869" cy="1724385"/>
          </a:xfrm>
          <a:prstGeom prst="rect">
            <a:avLst/>
          </a:prstGeom>
        </p:spPr>
        <p:txBody>
          <a:bodyPr anchor="t" rtlCol="false" tIns="0" lIns="0" bIns="0" rIns="0">
            <a:spAutoFit/>
          </a:bodyPr>
          <a:lstStyle/>
          <a:p>
            <a:pPr algn="l">
              <a:lnSpc>
                <a:spcPts val="14155"/>
              </a:lnSpc>
              <a:spcBef>
                <a:spcPct val="0"/>
              </a:spcBef>
            </a:pPr>
            <a:r>
              <a:rPr lang="en-US" b="true" sz="10110">
                <a:solidFill>
                  <a:srgbClr val="F7F1F1"/>
                </a:solidFill>
                <a:latin typeface="Oswald Bold"/>
                <a:ea typeface="Oswald Bold"/>
                <a:cs typeface="Oswald Bold"/>
                <a:sym typeface="Oswald Bold"/>
              </a:rPr>
              <a:t>CONCEPTION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166125" y="87181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2166125" y="2486379"/>
            <a:ext cx="4699789" cy="940195"/>
          </a:xfrm>
          <a:custGeom>
            <a:avLst/>
            <a:gdLst/>
            <a:ahLst/>
            <a:cxnLst/>
            <a:rect r="r" b="b" t="t" l="l"/>
            <a:pathLst>
              <a:path h="940195" w="4699789">
                <a:moveTo>
                  <a:pt x="0" y="0"/>
                </a:moveTo>
                <a:lnTo>
                  <a:pt x="4699789" y="0"/>
                </a:lnTo>
                <a:lnTo>
                  <a:pt x="4699789" y="940194"/>
                </a:lnTo>
                <a:lnTo>
                  <a:pt x="0" y="940194"/>
                </a:lnTo>
                <a:lnTo>
                  <a:pt x="0" y="0"/>
                </a:lnTo>
                <a:close/>
              </a:path>
            </a:pathLst>
          </a:custGeom>
          <a:blipFill>
            <a:blip r:embed="rId6">
              <a:alphaModFix amt="42000"/>
            </a:blip>
            <a:stretch>
              <a:fillRect l="0" t="-30604" r="0" b="-30604"/>
            </a:stretch>
          </a:blipFill>
        </p:spPr>
      </p:sp>
      <p:sp>
        <p:nvSpPr>
          <p:cNvPr name="Freeform 10" id="10"/>
          <p:cNvSpPr/>
          <p:nvPr/>
        </p:nvSpPr>
        <p:spPr>
          <a:xfrm flipH="false" flipV="false" rot="0">
            <a:off x="15938105" y="7749382"/>
            <a:ext cx="4699789" cy="940195"/>
          </a:xfrm>
          <a:custGeom>
            <a:avLst/>
            <a:gdLst/>
            <a:ahLst/>
            <a:cxnLst/>
            <a:rect r="r" b="b" t="t" l="l"/>
            <a:pathLst>
              <a:path h="940195" w="4699789">
                <a:moveTo>
                  <a:pt x="0" y="0"/>
                </a:moveTo>
                <a:lnTo>
                  <a:pt x="4699790" y="0"/>
                </a:lnTo>
                <a:lnTo>
                  <a:pt x="4699790" y="940195"/>
                </a:lnTo>
                <a:lnTo>
                  <a:pt x="0" y="940195"/>
                </a:lnTo>
                <a:lnTo>
                  <a:pt x="0" y="0"/>
                </a:lnTo>
                <a:close/>
              </a:path>
            </a:pathLst>
          </a:custGeom>
          <a:blipFill>
            <a:blip r:embed="rId6">
              <a:alphaModFix amt="42000"/>
            </a:blip>
            <a:stretch>
              <a:fillRect l="0" t="-30604" r="0" b="-30604"/>
            </a:stretch>
          </a:blipFill>
        </p:spPr>
      </p:sp>
      <p:sp>
        <p:nvSpPr>
          <p:cNvPr name="Freeform 11" id="11"/>
          <p:cNvSpPr/>
          <p:nvPr/>
        </p:nvSpPr>
        <p:spPr>
          <a:xfrm flipH="false" flipV="false" rot="0">
            <a:off x="1028700" y="3860358"/>
            <a:ext cx="2588779" cy="1680787"/>
          </a:xfrm>
          <a:custGeom>
            <a:avLst/>
            <a:gdLst/>
            <a:ahLst/>
            <a:cxnLst/>
            <a:rect r="r" b="b" t="t" l="l"/>
            <a:pathLst>
              <a:path h="1680787" w="2588779">
                <a:moveTo>
                  <a:pt x="0" y="0"/>
                </a:moveTo>
                <a:lnTo>
                  <a:pt x="2588779" y="0"/>
                </a:lnTo>
                <a:lnTo>
                  <a:pt x="2588779" y="1680786"/>
                </a:lnTo>
                <a:lnTo>
                  <a:pt x="0" y="1680786"/>
                </a:lnTo>
                <a:lnTo>
                  <a:pt x="0" y="0"/>
                </a:lnTo>
                <a:close/>
              </a:path>
            </a:pathLst>
          </a:custGeom>
          <a:blipFill>
            <a:blip r:embed="rId7"/>
            <a:stretch>
              <a:fillRect l="0" t="-5928" r="0" b="-5928"/>
            </a:stretch>
          </a:blipFill>
        </p:spPr>
      </p:sp>
      <p:sp>
        <p:nvSpPr>
          <p:cNvPr name="Freeform 12" id="12"/>
          <p:cNvSpPr/>
          <p:nvPr/>
        </p:nvSpPr>
        <p:spPr>
          <a:xfrm flipH="false" flipV="false" rot="0">
            <a:off x="7680286" y="3731733"/>
            <a:ext cx="1809411" cy="1809411"/>
          </a:xfrm>
          <a:custGeom>
            <a:avLst/>
            <a:gdLst/>
            <a:ahLst/>
            <a:cxnLst/>
            <a:rect r="r" b="b" t="t" l="l"/>
            <a:pathLst>
              <a:path h="1809411" w="1809411">
                <a:moveTo>
                  <a:pt x="0" y="0"/>
                </a:moveTo>
                <a:lnTo>
                  <a:pt x="1809411" y="0"/>
                </a:lnTo>
                <a:lnTo>
                  <a:pt x="1809411" y="1809411"/>
                </a:lnTo>
                <a:lnTo>
                  <a:pt x="0" y="1809411"/>
                </a:lnTo>
                <a:lnTo>
                  <a:pt x="0" y="0"/>
                </a:lnTo>
                <a:close/>
              </a:path>
            </a:pathLst>
          </a:custGeom>
          <a:blipFill>
            <a:blip r:embed="rId8"/>
            <a:stretch>
              <a:fillRect l="0" t="0" r="0" b="0"/>
            </a:stretch>
          </a:blipFill>
        </p:spPr>
      </p:sp>
      <p:sp>
        <p:nvSpPr>
          <p:cNvPr name="Freeform 13" id="13"/>
          <p:cNvSpPr/>
          <p:nvPr/>
        </p:nvSpPr>
        <p:spPr>
          <a:xfrm flipH="false" flipV="false" rot="0">
            <a:off x="13536485" y="3475338"/>
            <a:ext cx="2065806" cy="2065806"/>
          </a:xfrm>
          <a:custGeom>
            <a:avLst/>
            <a:gdLst/>
            <a:ahLst/>
            <a:cxnLst/>
            <a:rect r="r" b="b" t="t" l="l"/>
            <a:pathLst>
              <a:path h="2065806" w="2065806">
                <a:moveTo>
                  <a:pt x="0" y="0"/>
                </a:moveTo>
                <a:lnTo>
                  <a:pt x="2065807" y="0"/>
                </a:lnTo>
                <a:lnTo>
                  <a:pt x="2065807" y="2065806"/>
                </a:lnTo>
                <a:lnTo>
                  <a:pt x="0" y="2065806"/>
                </a:lnTo>
                <a:lnTo>
                  <a:pt x="0" y="0"/>
                </a:lnTo>
                <a:close/>
              </a:path>
            </a:pathLst>
          </a:custGeom>
          <a:blipFill>
            <a:blip r:embed="rId9"/>
            <a:stretch>
              <a:fillRect l="0" t="0" r="0" b="0"/>
            </a:stretch>
          </a:blipFill>
        </p:spPr>
      </p:sp>
      <p:sp>
        <p:nvSpPr>
          <p:cNvPr name="TextBox 14" id="14"/>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5" id="15"/>
          <p:cNvSpPr txBox="true"/>
          <p:nvPr/>
        </p:nvSpPr>
        <p:spPr>
          <a:xfrm rot="0">
            <a:off x="381394" y="894607"/>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CONCEPTION</a:t>
            </a:r>
          </a:p>
        </p:txBody>
      </p:sp>
      <p:sp>
        <p:nvSpPr>
          <p:cNvPr name="TextBox 16" id="16"/>
          <p:cNvSpPr txBox="true"/>
          <p:nvPr/>
        </p:nvSpPr>
        <p:spPr>
          <a:xfrm rot="0">
            <a:off x="1028700" y="2880276"/>
            <a:ext cx="10208632"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Outils Utilisés pour la Conception </a:t>
            </a:r>
          </a:p>
        </p:txBody>
      </p:sp>
      <p:sp>
        <p:nvSpPr>
          <p:cNvPr name="TextBox 17" id="17"/>
          <p:cNvSpPr txBox="true"/>
          <p:nvPr/>
        </p:nvSpPr>
        <p:spPr>
          <a:xfrm rot="0">
            <a:off x="183769" y="5922144"/>
            <a:ext cx="15932872" cy="2825750"/>
          </a:xfrm>
          <a:prstGeom prst="rect">
            <a:avLst/>
          </a:prstGeom>
        </p:spPr>
        <p:txBody>
          <a:bodyPr anchor="t" rtlCol="false" tIns="0" lIns="0" bIns="0" rIns="0">
            <a:spAutoFit/>
          </a:bodyPr>
          <a:lstStyle/>
          <a:p>
            <a:pPr algn="just">
              <a:lnSpc>
                <a:spcPts val="2800"/>
              </a:lnSpc>
              <a:spcBef>
                <a:spcPct val="0"/>
              </a:spcBef>
            </a:pPr>
            <a:r>
              <a:rPr lang="en-US" b="true" sz="2000" spc="48">
                <a:solidFill>
                  <a:srgbClr val="0C1D4B"/>
                </a:solidFill>
                <a:latin typeface="Public Sans Bold"/>
                <a:ea typeface="Public Sans Bold"/>
                <a:cs typeface="Public Sans Bold"/>
                <a:sym typeface="Public Sans Bold"/>
              </a:rPr>
              <a:t>DRAW.IO : OUTIL DE MODÉLISATION GRAPHIQUE PERMETTANT DE CRÉER DES DIAGRAMMES UML, DES SCHÉMAS DE BASES DE DONNÉES ET DES ARCHITECTURES LOGICIELLES. </a:t>
            </a:r>
          </a:p>
          <a:p>
            <a:pPr algn="just">
              <a:lnSpc>
                <a:spcPts val="2800"/>
              </a:lnSpc>
              <a:spcBef>
                <a:spcPct val="0"/>
              </a:spcBef>
            </a:pPr>
            <a:r>
              <a:rPr lang="en-US" b="true" sz="2000" spc="48">
                <a:solidFill>
                  <a:srgbClr val="0C1D4B"/>
                </a:solidFill>
                <a:latin typeface="Public Sans Bold"/>
                <a:ea typeface="Public Sans Bold"/>
                <a:cs typeface="Public Sans Bold"/>
                <a:sym typeface="Public Sans Bold"/>
              </a:rPr>
              <a:t>UML (UNIFIED MODELING LANGUAGE) : LANGAGE STANDARDISÉ POUR LA MODÉLISATION DES SYSTÈMES, INCLUANT DES DIAGRAMMES DE CAS D'UTILISATION, DE CLASSES, DE SÉQUENCE ET D'ACTIVITÉS.</a:t>
            </a:r>
          </a:p>
          <a:p>
            <a:pPr algn="just">
              <a:lnSpc>
                <a:spcPts val="2800"/>
              </a:lnSpc>
              <a:spcBef>
                <a:spcPct val="0"/>
              </a:spcBef>
            </a:pPr>
            <a:r>
              <a:rPr lang="en-US" b="true" sz="2000" spc="48">
                <a:solidFill>
                  <a:srgbClr val="0C1D4B"/>
                </a:solidFill>
                <a:latin typeface="Public Sans Bold"/>
                <a:ea typeface="Public Sans Bold"/>
                <a:cs typeface="Public Sans Bold"/>
                <a:sym typeface="Public Sans Bold"/>
              </a:rPr>
              <a:t>VISUAL PARADIGM : UN OUTIL DE MODÉLISATION UML QUI PERMET DE CONCEVOIR, VISUALISER ET DOCUMENTER L’ARCHITECTURE, LES DIAGRAMMES ET LES PROCESSUS D’UNE APPLICATION DE MANIÈRE CLAIRE ET PROFESSIONNELLE.</a:t>
            </a:r>
          </a:p>
          <a:p>
            <a:pPr algn="just">
              <a:lnSpc>
                <a:spcPts val="280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813568" y="2059344"/>
            <a:ext cx="9139333" cy="6980165"/>
          </a:xfrm>
          <a:custGeom>
            <a:avLst/>
            <a:gdLst/>
            <a:ahLst/>
            <a:cxnLst/>
            <a:rect r="r" b="b" t="t" l="l"/>
            <a:pathLst>
              <a:path h="6980165" w="9139333">
                <a:moveTo>
                  <a:pt x="0" y="0"/>
                </a:moveTo>
                <a:lnTo>
                  <a:pt x="9139333" y="0"/>
                </a:lnTo>
                <a:lnTo>
                  <a:pt x="9139333" y="6980165"/>
                </a:lnTo>
                <a:lnTo>
                  <a:pt x="0" y="6980165"/>
                </a:lnTo>
                <a:lnTo>
                  <a:pt x="0" y="0"/>
                </a:lnTo>
                <a:close/>
              </a:path>
            </a:pathLst>
          </a:custGeom>
          <a:blipFill>
            <a:blip r:embed="rId6"/>
            <a:stretch>
              <a:fillRect l="0" t="0" r="0" b="0"/>
            </a:stretch>
          </a:blipFill>
        </p:spPr>
      </p:sp>
      <p:sp>
        <p:nvSpPr>
          <p:cNvPr name="TextBox 9" id="9"/>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0" id="10"/>
          <p:cNvSpPr txBox="true"/>
          <p:nvPr/>
        </p:nvSpPr>
        <p:spPr>
          <a:xfrm rot="0">
            <a:off x="183769" y="331879"/>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CONCEPTION</a:t>
            </a:r>
          </a:p>
        </p:txBody>
      </p:sp>
      <p:sp>
        <p:nvSpPr>
          <p:cNvPr name="TextBox 11" id="11"/>
          <p:cNvSpPr txBox="true"/>
          <p:nvPr/>
        </p:nvSpPr>
        <p:spPr>
          <a:xfrm rot="0">
            <a:off x="1028700" y="2880276"/>
            <a:ext cx="10208632" cy="646707"/>
          </a:xfrm>
          <a:prstGeom prst="rect">
            <a:avLst/>
          </a:prstGeom>
        </p:spPr>
        <p:txBody>
          <a:bodyPr anchor="t" rtlCol="false" tIns="0" lIns="0" bIns="0" rIns="0">
            <a:spAutoFit/>
          </a:bodyPr>
          <a:lstStyle/>
          <a:p>
            <a:pPr algn="l">
              <a:lnSpc>
                <a:spcPts val="5304"/>
              </a:lnSpc>
              <a:spcBef>
                <a:spcPct val="0"/>
              </a:spcBef>
            </a:pPr>
            <a:r>
              <a:rPr lang="en-US" b="true" sz="3789">
                <a:solidFill>
                  <a:srgbClr val="0C1D4B"/>
                </a:solidFill>
                <a:latin typeface="Montserrat Bold"/>
                <a:ea typeface="Montserrat Bold"/>
                <a:cs typeface="Montserrat Bold"/>
                <a:sym typeface="Montserrat Bold"/>
              </a:rPr>
              <a:t>USE CASE</a:t>
            </a:r>
          </a:p>
        </p:txBody>
      </p:sp>
      <p:sp>
        <p:nvSpPr>
          <p:cNvPr name="AutoShape 12" id="12"/>
          <p:cNvSpPr/>
          <p:nvPr/>
        </p:nvSpPr>
        <p:spPr>
          <a:xfrm>
            <a:off x="-2013725" y="8870552"/>
            <a:ext cx="10894278" cy="0"/>
          </a:xfrm>
          <a:prstGeom prst="line">
            <a:avLst/>
          </a:prstGeom>
          <a:ln cap="flat" w="57150">
            <a:solidFill>
              <a:srgbClr val="181818"/>
            </a:solidFill>
            <a:prstDash val="solid"/>
            <a:headEnd type="none" len="sm" w="sm"/>
            <a:tailEnd type="none" len="sm" w="sm"/>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013725" y="88705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7516150" y="1290861"/>
            <a:ext cx="7800773" cy="7382145"/>
          </a:xfrm>
          <a:custGeom>
            <a:avLst/>
            <a:gdLst/>
            <a:ahLst/>
            <a:cxnLst/>
            <a:rect r="r" b="b" t="t" l="l"/>
            <a:pathLst>
              <a:path h="7382145" w="7800773">
                <a:moveTo>
                  <a:pt x="0" y="0"/>
                </a:moveTo>
                <a:lnTo>
                  <a:pt x="7800773" y="0"/>
                </a:lnTo>
                <a:lnTo>
                  <a:pt x="7800773" y="7382145"/>
                </a:lnTo>
                <a:lnTo>
                  <a:pt x="0" y="7382145"/>
                </a:lnTo>
                <a:lnTo>
                  <a:pt x="0" y="0"/>
                </a:lnTo>
                <a:close/>
              </a:path>
            </a:pathLst>
          </a:custGeom>
          <a:blipFill>
            <a:blip r:embed="rId6"/>
            <a:stretch>
              <a:fillRect l="0" t="0" r="0" b="0"/>
            </a:stretch>
          </a:blipFill>
        </p:spPr>
      </p:sp>
      <p:sp>
        <p:nvSpPr>
          <p:cNvPr name="TextBox 10" id="10"/>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1" id="11"/>
          <p:cNvSpPr txBox="true"/>
          <p:nvPr/>
        </p:nvSpPr>
        <p:spPr>
          <a:xfrm rot="0">
            <a:off x="183769" y="331879"/>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CONCEPTION</a:t>
            </a:r>
          </a:p>
        </p:txBody>
      </p:sp>
      <p:sp>
        <p:nvSpPr>
          <p:cNvPr name="TextBox 12" id="12"/>
          <p:cNvSpPr txBox="true"/>
          <p:nvPr/>
        </p:nvSpPr>
        <p:spPr>
          <a:xfrm rot="0">
            <a:off x="641230" y="3331323"/>
            <a:ext cx="6215706" cy="1999257"/>
          </a:xfrm>
          <a:prstGeom prst="rect">
            <a:avLst/>
          </a:prstGeom>
        </p:spPr>
        <p:txBody>
          <a:bodyPr anchor="t" rtlCol="false" tIns="0" lIns="0" bIns="0" rIns="0">
            <a:spAutoFit/>
          </a:bodyPr>
          <a:lstStyle/>
          <a:p>
            <a:pPr algn="l">
              <a:lnSpc>
                <a:spcPts val="5304"/>
              </a:lnSpc>
            </a:pPr>
            <a:r>
              <a:rPr lang="en-US" sz="3789" b="true">
                <a:solidFill>
                  <a:srgbClr val="0C1D4B"/>
                </a:solidFill>
                <a:latin typeface="Public Sans Bold"/>
                <a:ea typeface="Public Sans Bold"/>
                <a:cs typeface="Public Sans Bold"/>
                <a:sym typeface="Public Sans Bold"/>
              </a:rPr>
              <a:t>Diagramme de séquences du SuperAdmin</a:t>
            </a:r>
          </a:p>
          <a:p>
            <a:pPr algn="l">
              <a:lnSpc>
                <a:spcPts val="5304"/>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013725" y="88705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7299758" y="1496405"/>
            <a:ext cx="8619260" cy="7294190"/>
          </a:xfrm>
          <a:custGeom>
            <a:avLst/>
            <a:gdLst/>
            <a:ahLst/>
            <a:cxnLst/>
            <a:rect r="r" b="b" t="t" l="l"/>
            <a:pathLst>
              <a:path h="7294190" w="8619260">
                <a:moveTo>
                  <a:pt x="0" y="0"/>
                </a:moveTo>
                <a:lnTo>
                  <a:pt x="8619259" y="0"/>
                </a:lnTo>
                <a:lnTo>
                  <a:pt x="8619259" y="7294190"/>
                </a:lnTo>
                <a:lnTo>
                  <a:pt x="0" y="7294190"/>
                </a:lnTo>
                <a:lnTo>
                  <a:pt x="0" y="0"/>
                </a:lnTo>
                <a:close/>
              </a:path>
            </a:pathLst>
          </a:custGeom>
          <a:blipFill>
            <a:blip r:embed="rId6"/>
            <a:stretch>
              <a:fillRect l="0" t="0" r="0" b="0"/>
            </a:stretch>
          </a:blipFill>
        </p:spPr>
      </p:sp>
      <p:sp>
        <p:nvSpPr>
          <p:cNvPr name="TextBox 10" id="10"/>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1" id="11"/>
          <p:cNvSpPr txBox="true"/>
          <p:nvPr/>
        </p:nvSpPr>
        <p:spPr>
          <a:xfrm rot="0">
            <a:off x="183769" y="331879"/>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CONCEPTION</a:t>
            </a:r>
          </a:p>
        </p:txBody>
      </p:sp>
      <p:sp>
        <p:nvSpPr>
          <p:cNvPr name="TextBox 12" id="12"/>
          <p:cNvSpPr txBox="true"/>
          <p:nvPr/>
        </p:nvSpPr>
        <p:spPr>
          <a:xfrm rot="0">
            <a:off x="641230" y="3027538"/>
            <a:ext cx="5722492" cy="1999257"/>
          </a:xfrm>
          <a:prstGeom prst="rect">
            <a:avLst/>
          </a:prstGeom>
        </p:spPr>
        <p:txBody>
          <a:bodyPr anchor="t" rtlCol="false" tIns="0" lIns="0" bIns="0" rIns="0">
            <a:spAutoFit/>
          </a:bodyPr>
          <a:lstStyle/>
          <a:p>
            <a:pPr algn="l">
              <a:lnSpc>
                <a:spcPts val="5304"/>
              </a:lnSpc>
            </a:pPr>
            <a:r>
              <a:rPr lang="en-US" sz="3789" b="true">
                <a:solidFill>
                  <a:srgbClr val="0C1D4B"/>
                </a:solidFill>
                <a:latin typeface="Public Sans Bold"/>
                <a:ea typeface="Public Sans Bold"/>
                <a:cs typeface="Public Sans Bold"/>
                <a:sym typeface="Public Sans Bold"/>
              </a:rPr>
              <a:t>Diagramme de séquences du Admin</a:t>
            </a:r>
          </a:p>
          <a:p>
            <a:pPr algn="l">
              <a:lnSpc>
                <a:spcPts val="5304"/>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013725" y="88705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7178185" y="1652713"/>
            <a:ext cx="8527667" cy="6981574"/>
          </a:xfrm>
          <a:custGeom>
            <a:avLst/>
            <a:gdLst/>
            <a:ahLst/>
            <a:cxnLst/>
            <a:rect r="r" b="b" t="t" l="l"/>
            <a:pathLst>
              <a:path h="6981574" w="8527667">
                <a:moveTo>
                  <a:pt x="0" y="0"/>
                </a:moveTo>
                <a:lnTo>
                  <a:pt x="8527667" y="0"/>
                </a:lnTo>
                <a:lnTo>
                  <a:pt x="8527667" y="6981574"/>
                </a:lnTo>
                <a:lnTo>
                  <a:pt x="0" y="6981574"/>
                </a:lnTo>
                <a:lnTo>
                  <a:pt x="0" y="0"/>
                </a:lnTo>
                <a:close/>
              </a:path>
            </a:pathLst>
          </a:custGeom>
          <a:blipFill>
            <a:blip r:embed="rId6"/>
            <a:stretch>
              <a:fillRect l="0" t="0" r="0" b="0"/>
            </a:stretch>
          </a:blipFill>
        </p:spPr>
      </p:sp>
      <p:sp>
        <p:nvSpPr>
          <p:cNvPr name="TextBox 10" id="10"/>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1" id="11"/>
          <p:cNvSpPr txBox="true"/>
          <p:nvPr/>
        </p:nvSpPr>
        <p:spPr>
          <a:xfrm rot="0">
            <a:off x="183769" y="331879"/>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CONCEPTION</a:t>
            </a:r>
          </a:p>
        </p:txBody>
      </p:sp>
      <p:sp>
        <p:nvSpPr>
          <p:cNvPr name="TextBox 12" id="12"/>
          <p:cNvSpPr txBox="true"/>
          <p:nvPr/>
        </p:nvSpPr>
        <p:spPr>
          <a:xfrm rot="0">
            <a:off x="641230" y="3027538"/>
            <a:ext cx="5546345" cy="1999257"/>
          </a:xfrm>
          <a:prstGeom prst="rect">
            <a:avLst/>
          </a:prstGeom>
        </p:spPr>
        <p:txBody>
          <a:bodyPr anchor="t" rtlCol="false" tIns="0" lIns="0" bIns="0" rIns="0">
            <a:spAutoFit/>
          </a:bodyPr>
          <a:lstStyle/>
          <a:p>
            <a:pPr algn="l">
              <a:lnSpc>
                <a:spcPts val="5304"/>
              </a:lnSpc>
            </a:pPr>
            <a:r>
              <a:rPr lang="en-US" sz="3789" b="true">
                <a:solidFill>
                  <a:srgbClr val="0C1D4B"/>
                </a:solidFill>
                <a:latin typeface="Public Sans Bold"/>
                <a:ea typeface="Public Sans Bold"/>
                <a:cs typeface="Public Sans Bold"/>
                <a:sym typeface="Public Sans Bold"/>
              </a:rPr>
              <a:t>Diagramme de séquences du Donneur</a:t>
            </a:r>
          </a:p>
          <a:p>
            <a:pPr algn="l">
              <a:lnSpc>
                <a:spcPts val="5304"/>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013725" y="88705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7487726" y="1430062"/>
            <a:ext cx="8139317" cy="7193464"/>
          </a:xfrm>
          <a:custGeom>
            <a:avLst/>
            <a:gdLst/>
            <a:ahLst/>
            <a:cxnLst/>
            <a:rect r="r" b="b" t="t" l="l"/>
            <a:pathLst>
              <a:path h="7193464" w="8139317">
                <a:moveTo>
                  <a:pt x="0" y="0"/>
                </a:moveTo>
                <a:lnTo>
                  <a:pt x="8139317" y="0"/>
                </a:lnTo>
                <a:lnTo>
                  <a:pt x="8139317" y="7193464"/>
                </a:lnTo>
                <a:lnTo>
                  <a:pt x="0" y="7193464"/>
                </a:lnTo>
                <a:lnTo>
                  <a:pt x="0" y="0"/>
                </a:lnTo>
                <a:close/>
              </a:path>
            </a:pathLst>
          </a:custGeom>
          <a:blipFill>
            <a:blip r:embed="rId6"/>
            <a:stretch>
              <a:fillRect l="0" t="0" r="0" b="0"/>
            </a:stretch>
          </a:blipFill>
        </p:spPr>
      </p:sp>
      <p:sp>
        <p:nvSpPr>
          <p:cNvPr name="TextBox 10" id="10"/>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1" id="11"/>
          <p:cNvSpPr txBox="true"/>
          <p:nvPr/>
        </p:nvSpPr>
        <p:spPr>
          <a:xfrm rot="0">
            <a:off x="183769" y="331879"/>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CONCEPTION</a:t>
            </a:r>
          </a:p>
        </p:txBody>
      </p:sp>
      <p:sp>
        <p:nvSpPr>
          <p:cNvPr name="TextBox 12" id="12"/>
          <p:cNvSpPr txBox="true"/>
          <p:nvPr/>
        </p:nvSpPr>
        <p:spPr>
          <a:xfrm rot="0">
            <a:off x="711689" y="3331323"/>
            <a:ext cx="5546345" cy="1999257"/>
          </a:xfrm>
          <a:prstGeom prst="rect">
            <a:avLst/>
          </a:prstGeom>
        </p:spPr>
        <p:txBody>
          <a:bodyPr anchor="t" rtlCol="false" tIns="0" lIns="0" bIns="0" rIns="0">
            <a:spAutoFit/>
          </a:bodyPr>
          <a:lstStyle/>
          <a:p>
            <a:pPr algn="l">
              <a:lnSpc>
                <a:spcPts val="5304"/>
              </a:lnSpc>
            </a:pPr>
            <a:r>
              <a:rPr lang="en-US" sz="3789" b="true">
                <a:solidFill>
                  <a:srgbClr val="0C1D4B"/>
                </a:solidFill>
                <a:latin typeface="Public Sans Bold"/>
                <a:ea typeface="Public Sans Bold"/>
                <a:cs typeface="Public Sans Bold"/>
                <a:sym typeface="Public Sans Bold"/>
              </a:rPr>
              <a:t>Diagramme de séquences du Patient</a:t>
            </a:r>
          </a:p>
          <a:p>
            <a:pPr algn="l">
              <a:lnSpc>
                <a:spcPts val="5304"/>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952A2A"/>
        </a:solidFill>
      </p:bgPr>
    </p:bg>
    <p:spTree>
      <p:nvGrpSpPr>
        <p:cNvPr id="1" name=""/>
        <p:cNvGrpSpPr/>
        <p:nvPr/>
      </p:nvGrpSpPr>
      <p:grpSpPr>
        <a:xfrm>
          <a:off x="0" y="0"/>
          <a:ext cx="0" cy="0"/>
          <a:chOff x="0" y="0"/>
          <a:chExt cx="0" cy="0"/>
        </a:xfrm>
      </p:grpSpPr>
      <p:sp>
        <p:nvSpPr>
          <p:cNvPr name="TextBox 2" id="2"/>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3" id="3"/>
          <p:cNvSpPr txBox="true"/>
          <p:nvPr/>
        </p:nvSpPr>
        <p:spPr>
          <a:xfrm rot="0">
            <a:off x="3548220" y="4186057"/>
            <a:ext cx="11191560" cy="1724385"/>
          </a:xfrm>
          <a:prstGeom prst="rect">
            <a:avLst/>
          </a:prstGeom>
        </p:spPr>
        <p:txBody>
          <a:bodyPr anchor="t" rtlCol="false" tIns="0" lIns="0" bIns="0" rIns="0">
            <a:spAutoFit/>
          </a:bodyPr>
          <a:lstStyle/>
          <a:p>
            <a:pPr algn="l">
              <a:lnSpc>
                <a:spcPts val="14155"/>
              </a:lnSpc>
              <a:spcBef>
                <a:spcPct val="0"/>
              </a:spcBef>
            </a:pPr>
            <a:r>
              <a:rPr lang="en-US" b="true" sz="10110">
                <a:solidFill>
                  <a:srgbClr val="F7F1F1"/>
                </a:solidFill>
                <a:latin typeface="Oswald Bold"/>
                <a:ea typeface="Oswald Bold"/>
                <a:cs typeface="Oswald Bold"/>
                <a:sym typeface="Oswald Bold"/>
              </a:rPr>
              <a:t>RESULTAT OBTENUS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74699" y="6055494"/>
            <a:ext cx="717929" cy="724516"/>
          </a:xfrm>
          <a:custGeom>
            <a:avLst/>
            <a:gdLst/>
            <a:ahLst/>
            <a:cxnLst/>
            <a:rect r="r" b="b" t="t" l="l"/>
            <a:pathLst>
              <a:path h="724516" w="717929">
                <a:moveTo>
                  <a:pt x="0" y="0"/>
                </a:moveTo>
                <a:lnTo>
                  <a:pt x="717930" y="0"/>
                </a:lnTo>
                <a:lnTo>
                  <a:pt x="717930" y="724516"/>
                </a:lnTo>
                <a:lnTo>
                  <a:pt x="0" y="724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27839" y="9258300"/>
            <a:ext cx="22035035" cy="3565748"/>
            <a:chOff x="0" y="0"/>
            <a:chExt cx="5803466" cy="939127"/>
          </a:xfrm>
        </p:grpSpPr>
        <p:sp>
          <p:nvSpPr>
            <p:cNvPr name="Freeform 4" id="4"/>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5" id="5"/>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14871956" y="-5802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1838" y="20593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a:off x="-2013725" y="8870552"/>
            <a:ext cx="10894278" cy="0"/>
          </a:xfrm>
          <a:prstGeom prst="line">
            <a:avLst/>
          </a:prstGeom>
          <a:ln cap="flat" w="57150">
            <a:solidFill>
              <a:srgbClr val="181818"/>
            </a:solidFill>
            <a:prstDash val="solid"/>
            <a:headEnd type="none" len="sm" w="sm"/>
            <a:tailEnd type="none" len="sm" w="sm"/>
          </a:ln>
        </p:spPr>
      </p:sp>
      <p:sp>
        <p:nvSpPr>
          <p:cNvPr name="Freeform 9" id="9"/>
          <p:cNvSpPr/>
          <p:nvPr/>
        </p:nvSpPr>
        <p:spPr>
          <a:xfrm flipH="false" flipV="false" rot="0">
            <a:off x="1028700" y="1888977"/>
            <a:ext cx="15494167" cy="7619146"/>
          </a:xfrm>
          <a:custGeom>
            <a:avLst/>
            <a:gdLst/>
            <a:ahLst/>
            <a:cxnLst/>
            <a:rect r="r" b="b" t="t" l="l"/>
            <a:pathLst>
              <a:path h="7619146" w="15494167">
                <a:moveTo>
                  <a:pt x="0" y="0"/>
                </a:moveTo>
                <a:lnTo>
                  <a:pt x="15494167" y="0"/>
                </a:lnTo>
                <a:lnTo>
                  <a:pt x="15494167" y="7619147"/>
                </a:lnTo>
                <a:lnTo>
                  <a:pt x="0" y="7619147"/>
                </a:lnTo>
                <a:lnTo>
                  <a:pt x="0" y="0"/>
                </a:lnTo>
                <a:close/>
              </a:path>
            </a:pathLst>
          </a:custGeom>
          <a:blipFill>
            <a:blip r:embed="rId6"/>
            <a:stretch>
              <a:fillRect l="0" t="-6314" r="0" b="-6314"/>
            </a:stretch>
          </a:blipFill>
        </p:spPr>
      </p:sp>
      <p:sp>
        <p:nvSpPr>
          <p:cNvPr name="TextBox 10" id="10"/>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1" id="11"/>
          <p:cNvSpPr txBox="true"/>
          <p:nvPr/>
        </p:nvSpPr>
        <p:spPr>
          <a:xfrm rot="0">
            <a:off x="183769" y="331879"/>
            <a:ext cx="15735248" cy="1727465"/>
          </a:xfrm>
          <a:prstGeom prst="rect">
            <a:avLst/>
          </a:prstGeom>
        </p:spPr>
        <p:txBody>
          <a:bodyPr anchor="t" rtlCol="false" tIns="0" lIns="0" bIns="0" rIns="0">
            <a:spAutoFit/>
          </a:bodyPr>
          <a:lstStyle/>
          <a:p>
            <a:pPr algn="l">
              <a:lnSpc>
                <a:spcPts val="14155"/>
              </a:lnSpc>
              <a:spcBef>
                <a:spcPct val="0"/>
              </a:spcBef>
            </a:pPr>
            <a:r>
              <a:rPr lang="en-US" b="true" sz="10110">
                <a:solidFill>
                  <a:srgbClr val="952A2A"/>
                </a:solidFill>
                <a:latin typeface="Oswald Bold"/>
                <a:ea typeface="Oswald Bold"/>
                <a:cs typeface="Oswald Bold"/>
                <a:sym typeface="Oswald Bold"/>
              </a:rPr>
              <a:t>RESULTAT OBTENUS</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952A2A"/>
        </a:solidFill>
      </p:bgPr>
    </p:bg>
    <p:spTree>
      <p:nvGrpSpPr>
        <p:cNvPr id="1" name=""/>
        <p:cNvGrpSpPr/>
        <p:nvPr/>
      </p:nvGrpSpPr>
      <p:grpSpPr>
        <a:xfrm>
          <a:off x="0" y="0"/>
          <a:ext cx="0" cy="0"/>
          <a:chOff x="0" y="0"/>
          <a:chExt cx="0" cy="0"/>
        </a:xfrm>
      </p:grpSpPr>
      <p:sp>
        <p:nvSpPr>
          <p:cNvPr name="TextBox 2" id="2"/>
          <p:cNvSpPr txBox="true"/>
          <p:nvPr/>
        </p:nvSpPr>
        <p:spPr>
          <a:xfrm rot="0">
            <a:off x="12601471" y="9525325"/>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3" id="3"/>
          <p:cNvSpPr txBox="true"/>
          <p:nvPr/>
        </p:nvSpPr>
        <p:spPr>
          <a:xfrm rot="0">
            <a:off x="5115934" y="3290707"/>
            <a:ext cx="8056132" cy="3515085"/>
          </a:xfrm>
          <a:prstGeom prst="rect">
            <a:avLst/>
          </a:prstGeom>
        </p:spPr>
        <p:txBody>
          <a:bodyPr anchor="t" rtlCol="false" tIns="0" lIns="0" bIns="0" rIns="0">
            <a:spAutoFit/>
          </a:bodyPr>
          <a:lstStyle/>
          <a:p>
            <a:pPr algn="ctr">
              <a:lnSpc>
                <a:spcPts val="14155"/>
              </a:lnSpc>
              <a:spcBef>
                <a:spcPct val="0"/>
              </a:spcBef>
            </a:pPr>
            <a:r>
              <a:rPr lang="en-US" b="true" sz="10110">
                <a:solidFill>
                  <a:srgbClr val="F7F1F1"/>
                </a:solidFill>
                <a:latin typeface="Oswald Bold"/>
                <a:ea typeface="Oswald Bold"/>
                <a:cs typeface="Oswald Bold"/>
                <a:sym typeface="Oswald Bold"/>
              </a:rPr>
              <a:t>CONCLUSION &amp; PERSPECTIFS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7F1F1"/>
        </a:solidFill>
      </p:bgPr>
    </p:bg>
    <p:spTree>
      <p:nvGrpSpPr>
        <p:cNvPr id="1" name=""/>
        <p:cNvGrpSpPr/>
        <p:nvPr/>
      </p:nvGrpSpPr>
      <p:grpSpPr>
        <a:xfrm>
          <a:off x="0" y="0"/>
          <a:ext cx="0" cy="0"/>
          <a:chOff x="0" y="0"/>
          <a:chExt cx="0" cy="0"/>
        </a:xfrm>
      </p:grpSpPr>
      <p:grpSp>
        <p:nvGrpSpPr>
          <p:cNvPr name="Group 2" id="2"/>
          <p:cNvGrpSpPr/>
          <p:nvPr/>
        </p:nvGrpSpPr>
        <p:grpSpPr>
          <a:xfrm rot="0">
            <a:off x="-3127839" y="9258300"/>
            <a:ext cx="22035035" cy="3565748"/>
            <a:chOff x="0" y="0"/>
            <a:chExt cx="5803466" cy="939127"/>
          </a:xfrm>
        </p:grpSpPr>
        <p:sp>
          <p:nvSpPr>
            <p:cNvPr name="Freeform 3" id="3"/>
            <p:cNvSpPr/>
            <p:nvPr/>
          </p:nvSpPr>
          <p:spPr>
            <a:xfrm flipH="false" flipV="false" rot="0">
              <a:off x="0" y="0"/>
              <a:ext cx="5803466" cy="939127"/>
            </a:xfrm>
            <a:custGeom>
              <a:avLst/>
              <a:gdLst/>
              <a:ahLst/>
              <a:cxnLst/>
              <a:rect r="r" b="b" t="t" l="l"/>
              <a:pathLst>
                <a:path h="939127" w="5803466">
                  <a:moveTo>
                    <a:pt x="0" y="0"/>
                  </a:moveTo>
                  <a:lnTo>
                    <a:pt x="5803466" y="0"/>
                  </a:lnTo>
                  <a:lnTo>
                    <a:pt x="5803466" y="939127"/>
                  </a:lnTo>
                  <a:lnTo>
                    <a:pt x="0" y="939127"/>
                  </a:lnTo>
                  <a:close/>
                </a:path>
              </a:pathLst>
            </a:custGeom>
            <a:solidFill>
              <a:srgbClr val="952A2A"/>
            </a:solidFill>
          </p:spPr>
        </p:sp>
        <p:sp>
          <p:nvSpPr>
            <p:cNvPr name="TextBox 4" id="4"/>
            <p:cNvSpPr txBox="true"/>
            <p:nvPr/>
          </p:nvSpPr>
          <p:spPr>
            <a:xfrm>
              <a:off x="0" y="-47625"/>
              <a:ext cx="5803466" cy="986752"/>
            </a:xfrm>
            <a:prstGeom prst="rect">
              <a:avLst/>
            </a:prstGeom>
          </p:spPr>
          <p:txBody>
            <a:bodyPr anchor="ctr" rtlCol="false" tIns="50800" lIns="50800" bIns="50800" rIns="50800"/>
            <a:lstStyle/>
            <a:p>
              <a:pPr algn="ctr">
                <a:lnSpc>
                  <a:spcPts val="2940"/>
                </a:lnSpc>
              </a:pPr>
            </a:p>
          </p:txBody>
        </p:sp>
      </p:grpSp>
      <p:sp>
        <p:nvSpPr>
          <p:cNvPr name="Freeform 5" id="5"/>
          <p:cNvSpPr/>
          <p:nvPr/>
        </p:nvSpPr>
        <p:spPr>
          <a:xfrm flipH="false" flipV="false" rot="0">
            <a:off x="14719556" y="-732697"/>
            <a:ext cx="4984238" cy="2469274"/>
          </a:xfrm>
          <a:custGeom>
            <a:avLst/>
            <a:gdLst/>
            <a:ahLst/>
            <a:cxnLst/>
            <a:rect r="r" b="b" t="t" l="l"/>
            <a:pathLst>
              <a:path h="2469274" w="4984238">
                <a:moveTo>
                  <a:pt x="0" y="0"/>
                </a:moveTo>
                <a:lnTo>
                  <a:pt x="4984238" y="0"/>
                </a:lnTo>
                <a:lnTo>
                  <a:pt x="4984238" y="2469274"/>
                </a:lnTo>
                <a:lnTo>
                  <a:pt x="0" y="2469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219438" y="1906944"/>
            <a:ext cx="2759756" cy="1367229"/>
          </a:xfrm>
          <a:custGeom>
            <a:avLst/>
            <a:gdLst/>
            <a:ahLst/>
            <a:cxnLst/>
            <a:rect r="r" b="b" t="t" l="l"/>
            <a:pathLst>
              <a:path h="1367229" w="2759756">
                <a:moveTo>
                  <a:pt x="0" y="0"/>
                </a:moveTo>
                <a:lnTo>
                  <a:pt x="2759757" y="0"/>
                </a:lnTo>
                <a:lnTo>
                  <a:pt x="2759757" y="1367229"/>
                </a:lnTo>
                <a:lnTo>
                  <a:pt x="0" y="13672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89465" y="2871237"/>
            <a:ext cx="11044876" cy="5953127"/>
          </a:xfrm>
          <a:prstGeom prst="rect">
            <a:avLst/>
          </a:prstGeom>
        </p:spPr>
        <p:txBody>
          <a:bodyPr anchor="t" rtlCol="false" tIns="0" lIns="0" bIns="0" rIns="0">
            <a:spAutoFit/>
          </a:bodyPr>
          <a:lstStyle/>
          <a:p>
            <a:pPr algn="just">
              <a:lnSpc>
                <a:spcPts val="5999"/>
              </a:lnSpc>
            </a:pPr>
            <a:r>
              <a:rPr lang="en-US" sz="2999">
                <a:solidFill>
                  <a:srgbClr val="0E1D40"/>
                </a:solidFill>
                <a:latin typeface="Public Sans"/>
                <a:ea typeface="Public Sans"/>
                <a:cs typeface="Public Sans"/>
                <a:sym typeface="Public Sans"/>
              </a:rPr>
              <a:t>Cette plateforme rend le don de sang simple, sûr et accessible, reliant donneurs et patients pour sauver des vies.</a:t>
            </a:r>
          </a:p>
          <a:p>
            <a:pPr algn="just">
              <a:lnSpc>
                <a:spcPts val="5999"/>
              </a:lnSpc>
            </a:pPr>
            <a:r>
              <a:rPr lang="en-US" sz="2999">
                <a:solidFill>
                  <a:srgbClr val="0E1D40"/>
                </a:solidFill>
                <a:latin typeface="Public Sans"/>
                <a:ea typeface="Public Sans"/>
                <a:cs typeface="Public Sans"/>
                <a:sym typeface="Public Sans"/>
              </a:rPr>
              <a:t>Elle optimise la gestion des stocks et des demandes tout en offrant une expérience fluide pour tous les utilisateurs.</a:t>
            </a:r>
          </a:p>
          <a:p>
            <a:pPr algn="just">
              <a:lnSpc>
                <a:spcPts val="5999"/>
              </a:lnSpc>
            </a:pPr>
            <a:r>
              <a:rPr lang="en-US" sz="2999">
                <a:solidFill>
                  <a:srgbClr val="0E1D40"/>
                </a:solidFill>
                <a:latin typeface="Public Sans"/>
                <a:ea typeface="Public Sans"/>
                <a:cs typeface="Public Sans"/>
                <a:sym typeface="Public Sans"/>
              </a:rPr>
              <a:t> La version mobile sera améliorée pour plus de réactivité et de fonctionnalités, et la sécurité des données renforcée.</a:t>
            </a:r>
          </a:p>
          <a:p>
            <a:pPr algn="just">
              <a:lnSpc>
                <a:spcPts val="5999"/>
              </a:lnSpc>
            </a:pPr>
            <a:r>
              <a:rPr lang="en-US" sz="2999">
                <a:solidFill>
                  <a:srgbClr val="0E1D40"/>
                </a:solidFill>
                <a:latin typeface="Public Sans"/>
                <a:ea typeface="Public Sans"/>
                <a:cs typeface="Public Sans"/>
                <a:sym typeface="Public Sans"/>
              </a:rPr>
              <a:t>Ainsi, cette solution représente un véritable levier d’innovation et d’efficacité pour le don de sang.</a:t>
            </a:r>
          </a:p>
        </p:txBody>
      </p:sp>
      <p:sp>
        <p:nvSpPr>
          <p:cNvPr name="Freeform 8" id="8"/>
          <p:cNvSpPr/>
          <p:nvPr/>
        </p:nvSpPr>
        <p:spPr>
          <a:xfrm flipH="false" flipV="false" rot="0">
            <a:off x="12220575" y="2808068"/>
            <a:ext cx="5378741" cy="5378741"/>
          </a:xfrm>
          <a:custGeom>
            <a:avLst/>
            <a:gdLst/>
            <a:ahLst/>
            <a:cxnLst/>
            <a:rect r="r" b="b" t="t" l="l"/>
            <a:pathLst>
              <a:path h="5378741" w="5378741">
                <a:moveTo>
                  <a:pt x="0" y="0"/>
                </a:moveTo>
                <a:lnTo>
                  <a:pt x="5378741" y="0"/>
                </a:lnTo>
                <a:lnTo>
                  <a:pt x="5378741" y="5378741"/>
                </a:lnTo>
                <a:lnTo>
                  <a:pt x="0" y="5378741"/>
                </a:lnTo>
                <a:lnTo>
                  <a:pt x="0" y="0"/>
                </a:lnTo>
                <a:close/>
              </a:path>
            </a:pathLst>
          </a:custGeom>
          <a:blipFill>
            <a:blip r:embed="rId4"/>
            <a:stretch>
              <a:fillRect l="0" t="0" r="0" b="0"/>
            </a:stretch>
          </a:blipFill>
        </p:spPr>
      </p:sp>
      <p:sp>
        <p:nvSpPr>
          <p:cNvPr name="TextBox 9" id="9"/>
          <p:cNvSpPr txBox="true"/>
          <p:nvPr/>
        </p:nvSpPr>
        <p:spPr>
          <a:xfrm rot="0">
            <a:off x="12390642" y="9595769"/>
            <a:ext cx="4657829" cy="389255"/>
          </a:xfrm>
          <a:prstGeom prst="rect">
            <a:avLst/>
          </a:prstGeom>
        </p:spPr>
        <p:txBody>
          <a:bodyPr anchor="t" rtlCol="false" tIns="0" lIns="0" bIns="0" rIns="0">
            <a:spAutoFit/>
          </a:bodyPr>
          <a:lstStyle/>
          <a:p>
            <a:pPr algn="r">
              <a:lnSpc>
                <a:spcPts val="3219"/>
              </a:lnSpc>
            </a:pPr>
            <a:r>
              <a:rPr lang="en-US" b="true" sz="2299" spc="55">
                <a:solidFill>
                  <a:srgbClr val="FFFFFF"/>
                </a:solidFill>
                <a:latin typeface="DM Sans Bold"/>
                <a:ea typeface="DM Sans Bold"/>
                <a:cs typeface="DM Sans Bold"/>
                <a:sym typeface="DM Sans Bold"/>
              </a:rPr>
              <a:t>LIFEFLOW</a:t>
            </a:r>
          </a:p>
        </p:txBody>
      </p:sp>
      <p:sp>
        <p:nvSpPr>
          <p:cNvPr name="TextBox 10" id="10"/>
          <p:cNvSpPr txBox="true"/>
          <p:nvPr/>
        </p:nvSpPr>
        <p:spPr>
          <a:xfrm rot="0">
            <a:off x="789465" y="976536"/>
            <a:ext cx="13586104" cy="1488969"/>
          </a:xfrm>
          <a:prstGeom prst="rect">
            <a:avLst/>
          </a:prstGeom>
        </p:spPr>
        <p:txBody>
          <a:bodyPr anchor="t" rtlCol="false" tIns="0" lIns="0" bIns="0" rIns="0">
            <a:spAutoFit/>
          </a:bodyPr>
          <a:lstStyle/>
          <a:p>
            <a:pPr algn="l">
              <a:lnSpc>
                <a:spcPts val="12221"/>
              </a:lnSpc>
              <a:spcBef>
                <a:spcPct val="0"/>
              </a:spcBef>
            </a:pPr>
            <a:r>
              <a:rPr lang="en-US" b="true" sz="8729">
                <a:solidFill>
                  <a:srgbClr val="952A2A"/>
                </a:solidFill>
                <a:latin typeface="Oswald Bold"/>
                <a:ea typeface="Oswald Bold"/>
                <a:cs typeface="Oswald Bold"/>
                <a:sym typeface="Oswald Bold"/>
              </a:rPr>
              <a:t>CONCLUSION &amp; PERSPECTIFS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DAHE23_Cchg</dc:identifier>
  <dcterms:modified xsi:type="dcterms:W3CDTF">2011-08-01T06:04:30Z</dcterms:modified>
  <cp:revision>1</cp:revision>
  <dc:title>Blue and White Modern Illustrative Thesis Defense Presentation</dc:title>
</cp:coreProperties>
</file>